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9192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762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Jamaica eTitles Project • SMD spatial workflow brief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509760" y="656539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Fujitsu Confidential-in-Trust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258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 / PXA / PLA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3232" y="202996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DE7FF"/>
                </a:solidFill>
              </a:rPr>
              <a:t>What the SMD spatial workflows do in eTitles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FC2E8"/>
                </a:solidFill>
              </a:rPr>
              <a:t>Plan Examination • Compute/Compare • Plan Annexation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903720" y="1097280"/>
            <a:ext cx="4297680" cy="3794760"/>
          </a:xfrm>
          <a:prstGeom prst="roundRect">
            <a:avLst>
              <a:gd name="adj" fmla="val 1928"/>
            </a:avLst>
          </a:prstGeom>
          <a:solidFill>
            <a:srgbClr val="102A4C"/>
          </a:solidFill>
          <a:ln w="10160">
            <a:solidFill>
              <a:srgbClr val="2844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269480" y="1417320"/>
            <a:ext cx="420624" cy="42062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269480" y="149961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18120" y="143560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SUBMITTED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SURVEY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18120" y="168249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8D5EA"/>
                </a:solidFill>
              </a:rPr>
              <a:t>PDF / CAD / coordinates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7479792" y="1874520"/>
            <a:ext cx="0" cy="256032"/>
          </a:xfrm>
          <a:prstGeom prst="line">
            <a:avLst/>
          </a:prstGeom>
          <a:noFill/>
          <a:ln w="8890">
            <a:solidFill>
              <a:srgbClr val="C8D5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269480" y="2167128"/>
            <a:ext cx="420624" cy="420624"/>
          </a:xfrm>
          <a:prstGeom prst="ellipse">
            <a:avLst/>
          </a:prstGeom>
          <a:solidFill>
            <a:srgbClr val="1EA7FF"/>
          </a:solidFill>
          <a:ln w="12700">
            <a:solidFill>
              <a:srgbClr val="1EA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269480" y="224942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18120" y="21854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COMPUTE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18120" y="2432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8D5EA"/>
                </a:solidFill>
              </a:rPr>
              <a:t>technical QA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479792" y="2624328"/>
            <a:ext cx="0" cy="256032"/>
          </a:xfrm>
          <a:prstGeom prst="line">
            <a:avLst/>
          </a:prstGeom>
          <a:noFill/>
          <a:ln w="8890">
            <a:solidFill>
              <a:srgbClr val="C8D5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269480" y="2916936"/>
            <a:ext cx="420624" cy="420624"/>
          </a:xfrm>
          <a:prstGeom prst="ellipse">
            <a:avLst/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69480" y="299923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18120" y="293522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COMPARE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18120" y="318211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8D5EA"/>
                </a:solidFill>
              </a:rPr>
              <a:t>cadastral QA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7479792" y="3374136"/>
            <a:ext cx="0" cy="256032"/>
          </a:xfrm>
          <a:prstGeom prst="line">
            <a:avLst/>
          </a:prstGeom>
          <a:noFill/>
          <a:ln w="8890">
            <a:solidFill>
              <a:srgbClr val="C8D5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269480" y="3666744"/>
            <a:ext cx="420624" cy="420624"/>
          </a:xfrm>
          <a:prstGeom prst="ellipse">
            <a:avLst/>
          </a:prstGeom>
          <a:solidFill>
            <a:srgbClr val="1E5BFF"/>
          </a:solidFill>
          <a:ln w="1270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69480" y="374904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818120" y="36850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818120" y="39319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8D5EA"/>
                </a:solidFill>
              </a:rPr>
              <a:t>authoritative link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594360" y="6080760"/>
            <a:ext cx="11018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B1F3A"/>
                </a:solidFill>
              </a:rPr>
              <a:t>PM focus: one controlled path from submitted survey → validated geometry → authoritative parcel/title link.</a:t>
            </a:r>
            <a:endParaRPr lang="en-US" sz="112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SMD in the eTitles transaction lifecycle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Innola orchestrates the workflow; ArcGIS Pro executes the GIS work; ArcGIS Enterprise holds authoritative spatial data.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993392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8DEE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0" y="2185416"/>
            <a:ext cx="420624" cy="42062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0" y="226771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2697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B1F3A"/>
                </a:solidFill>
              </a:rPr>
              <a:t>Customer / LTD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822960" y="294436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submission starts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96312" y="2624328"/>
            <a:ext cx="356616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26080" y="1993392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EAF1FF"/>
          </a:solidFill>
          <a:ln w="10160">
            <a:solidFill>
              <a:srgbClr val="1E5BFF"/>
            </a:solidFill>
            <a:prstDash val="solid"/>
          </a:ln>
          <a:effectLst>
            <a:outerShdw blurRad="12700" dist="50800" dir="2700000" algn="bl" rotWithShape="0">
              <a:srgbClr val="D8DEE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11880" y="2185416"/>
            <a:ext cx="420624" cy="420624"/>
          </a:xfrm>
          <a:prstGeom prst="ellipse">
            <a:avLst/>
          </a:prstGeom>
          <a:solidFill>
            <a:srgbClr val="1E5BFF"/>
          </a:solidFill>
          <a:ln w="1270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11880" y="226771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44952" y="2697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B1F3A"/>
                </a:solidFill>
              </a:rPr>
              <a:t>eTitles / Innola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3063240" y="294436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transaction control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36592" y="2624328"/>
            <a:ext cx="356616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166360" y="1993392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E9F8F2"/>
          </a:solidFill>
          <a:ln w="10160">
            <a:solidFill>
              <a:srgbClr val="00A676"/>
            </a:solidFill>
            <a:prstDash val="solid"/>
          </a:ln>
          <a:effectLst>
            <a:outerShdw blurRad="12700" dist="50800" dir="2700000" algn="bl" rotWithShape="0">
              <a:srgbClr val="D8DEE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852160" y="2185416"/>
            <a:ext cx="420624" cy="420624"/>
          </a:xfrm>
          <a:prstGeom prst="ellipse">
            <a:avLst/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52160" y="226771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85232" y="2697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B1F3A"/>
                </a:solidFill>
              </a:rPr>
              <a:t>SMD / ArcGIS Pro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5303520" y="294436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compute + compare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976872" y="2624328"/>
            <a:ext cx="356616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406640" y="1993392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8DEE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092440" y="2185416"/>
            <a:ext cx="420624" cy="420624"/>
          </a:xfrm>
          <a:prstGeom prst="ellipse">
            <a:avLst/>
          </a:prstGeom>
          <a:solidFill>
            <a:srgbClr val="1EA7FF"/>
          </a:solidFill>
          <a:ln w="12700">
            <a:solidFill>
              <a:srgbClr val="1EA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92440" y="226771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25512" y="2697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B1F3A"/>
                </a:solidFill>
              </a:rPr>
              <a:t>ArcGIS Enterprise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7543800" y="294436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CadMap • CadIndex • PF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217152" y="2624328"/>
            <a:ext cx="356616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646920" y="1993392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8DEE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332720" y="2185416"/>
            <a:ext cx="420624" cy="42062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332720" y="226771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765792" y="2697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B1F3A"/>
                </a:solidFill>
              </a:rPr>
              <a:t>eTitles result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9784080" y="294436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decision + audit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77240" y="4069080"/>
            <a:ext cx="10607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DE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60120" y="4251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5BFF"/>
                </a:solidFill>
              </a:rPr>
              <a:t>Key point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2084832" y="4197096"/>
            <a:ext cx="8503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F2937"/>
                </a:solidFill>
              </a:rPr>
              <a:t>PE/PXA and PLA are stages within a transaction-controlled SMD spatial process, with every action linked back to the eTitles record.</a:t>
            </a:r>
            <a:endParaRPr lang="en-US" sz="1520" dirty="0"/>
          </a:p>
        </p:txBody>
      </p:sp>
      <p:sp>
        <p:nvSpPr>
          <p:cNvPr id="36" name="Text 34"/>
          <p:cNvSpPr/>
          <p:nvPr/>
        </p:nvSpPr>
        <p:spPr>
          <a:xfrm>
            <a:off x="594360" y="6080760"/>
            <a:ext cx="11018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B1F3A"/>
                </a:solidFill>
              </a:rPr>
              <a:t>One transaction record, one spatial workspace, one auditable execution path.</a:t>
            </a:r>
            <a:endParaRPr lang="en-US" sz="112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 / PXA in one picture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The Plan Examination process is easiest to explain as two questions: Compute and Compare.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13232" y="1444752"/>
            <a:ext cx="2011680" cy="35204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8DEE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78408" y="17007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INPUTS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13055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7F9FC"/>
          </a:solidFill>
          <a:ln w="1397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87552" y="2199132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</a:rPr>
              <a:t>Survey plan PDF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14400" y="2615184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7F9FC"/>
          </a:solidFill>
          <a:ln w="1397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87552" y="2683764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</a:rPr>
              <a:t>DWG / DXF CAD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14400" y="3099816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7F9FC"/>
          </a:solidFill>
          <a:ln w="1397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87552" y="3168396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</a:rPr>
              <a:t>Computer sheet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14400" y="3584448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7F9FC"/>
          </a:solidFill>
          <a:ln w="1397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87552" y="3653028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</a:rPr>
              <a:t>PE number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88920" y="3182112"/>
            <a:ext cx="484632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29000" y="1280160"/>
            <a:ext cx="3429000" cy="3858768"/>
          </a:xfrm>
          <a:prstGeom prst="roundRect">
            <a:avLst>
              <a:gd name="adj" fmla="val 2133"/>
            </a:avLst>
          </a:prstGeom>
          <a:solidFill>
            <a:srgbClr val="EAF1FF"/>
          </a:solidFill>
          <a:ln w="10160">
            <a:solidFill>
              <a:srgbClr val="1E5BFF"/>
            </a:solidFill>
            <a:prstDash val="solid"/>
          </a:ln>
          <a:effectLst>
            <a:outerShdw blurRad="12700" dist="50800" dir="2700000" algn="bl" rotWithShape="0">
              <a:srgbClr val="D8DEE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03320" y="15727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5BFF"/>
                </a:solidFill>
              </a:rPr>
              <a:t>COMPUTE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3694176" y="1965960"/>
            <a:ext cx="28803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</a:rPr>
              <a:t>Is the submitted survey internally and mathematically correct?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840480" y="26974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✓ Required plan elements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3840480" y="30815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✓ Coordinate/geometry build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3840480" y="34655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✓ Closure calculation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3840480" y="384962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✓ Bearing &amp; distance checks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3840480" y="42336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✓ Topology validation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931152" y="3182112"/>
            <a:ext cx="457200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543800" y="1280160"/>
            <a:ext cx="3429000" cy="3858768"/>
          </a:xfrm>
          <a:prstGeom prst="roundRect">
            <a:avLst>
              <a:gd name="adj" fmla="val 2133"/>
            </a:avLst>
          </a:prstGeom>
          <a:solidFill>
            <a:srgbClr val="E9F8F2"/>
          </a:solidFill>
          <a:ln w="10160">
            <a:solidFill>
              <a:srgbClr val="00A676"/>
            </a:solidFill>
            <a:prstDash val="solid"/>
          </a:ln>
          <a:effectLst>
            <a:outerShdw blurRad="12700" dist="50800" dir="2700000" algn="bl" rotWithShape="0">
              <a:srgbClr val="D8DEE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845552" y="15727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A676"/>
                </a:solidFill>
              </a:rPr>
              <a:t>COMPARE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7836408" y="1965960"/>
            <a:ext cx="2834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</a:rPr>
              <a:t>Does the validated survey agree with the existing cadastre and records?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955280" y="26974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✓ Overlay on CADMAP/CADINDEX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7955280" y="30815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✓ Check adjacent owners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7955280" y="34655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✓ Detect overlaps/conflicts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7955280" y="384962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✓ Use supporting records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7955280" y="42336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✓ Prepare examiner findings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594360" y="6080760"/>
            <a:ext cx="11018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B1F3A"/>
                </a:solidFill>
              </a:rPr>
              <a:t>Compute validates the survey itself; Compare validates the survey against the authoritative cadastral environment.</a:t>
            </a:r>
            <a:endParaRPr lang="en-US" sz="112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Compute stage — from submission to validated geometry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The Compute stage transforms the submitted survey into a structured GIS workspace, then validates its technical integrity before Compare.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225296"/>
            <a:ext cx="175564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0B1F3A"/>
            </a:solidFill>
            <a:prstDash val="solid"/>
          </a:ln>
          <a:effectLst>
            <a:outerShdw blurRad="12700" dist="50800" dir="2700000" algn="bl" rotWithShape="0">
              <a:srgbClr val="D8DEE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371600"/>
            <a:ext cx="420624" cy="42062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45389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1344168"/>
            <a:ext cx="104241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0B1F3A"/>
                </a:solidFill>
              </a:rPr>
              <a:t>LODGMENT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694944" y="1746504"/>
            <a:ext cx="149961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4748B"/>
                </a:solidFill>
              </a:rPr>
              <a:t>Create transaction workspace and load plan/CAD/computer sheet.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2340864" y="1773936"/>
            <a:ext cx="13716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05456" y="1225296"/>
            <a:ext cx="1755648" cy="1097280"/>
          </a:xfrm>
          <a:prstGeom prst="roundRect">
            <a:avLst>
              <a:gd name="adj" fmla="val 6667"/>
            </a:avLst>
          </a:prstGeom>
          <a:solidFill>
            <a:srgbClr val="EAF1FF"/>
          </a:solidFill>
          <a:ln w="10160">
            <a:solidFill>
              <a:srgbClr val="1E5BFF"/>
            </a:solidFill>
            <a:prstDash val="solid"/>
          </a:ln>
          <a:effectLst>
            <a:outerShdw blurRad="12700" dist="50800" dir="2700000" algn="bl" rotWithShape="0">
              <a:srgbClr val="D8DEE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24328" y="1371600"/>
            <a:ext cx="420624" cy="420624"/>
          </a:xfrm>
          <a:prstGeom prst="ellipse">
            <a:avLst/>
          </a:prstGeom>
          <a:solidFill>
            <a:srgbClr val="1E5BFF"/>
          </a:solidFill>
          <a:ln w="1270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24328" y="145389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0" y="1344168"/>
            <a:ext cx="104241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0B1F3A"/>
                </a:solidFill>
              </a:rPr>
              <a:t>STRUCTURE CHECK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2633472" y="1746504"/>
            <a:ext cx="149961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4748B"/>
                </a:solidFill>
              </a:rPr>
              <a:t>Confirm required content, layers, coordinates and usable survey structure.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4279392" y="1773936"/>
            <a:ext cx="13716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443984" y="1225296"/>
            <a:ext cx="1755648" cy="1097280"/>
          </a:xfrm>
          <a:prstGeom prst="roundRect">
            <a:avLst>
              <a:gd name="adj" fmla="val 6667"/>
            </a:avLst>
          </a:prstGeom>
          <a:solidFill>
            <a:srgbClr val="EEF8FF"/>
          </a:solidFill>
          <a:ln w="10160">
            <a:solidFill>
              <a:srgbClr val="1EA7FF"/>
            </a:solidFill>
            <a:prstDash val="solid"/>
          </a:ln>
          <a:effectLst>
            <a:outerShdw blurRad="12700" dist="50800" dir="2700000" algn="bl" rotWithShape="0">
              <a:srgbClr val="D8DEE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62856" y="1371600"/>
            <a:ext cx="420624" cy="420624"/>
          </a:xfrm>
          <a:prstGeom prst="ellipse">
            <a:avLst/>
          </a:prstGeom>
          <a:solidFill>
            <a:srgbClr val="1EA7FF"/>
          </a:solidFill>
          <a:ln w="12700">
            <a:solidFill>
              <a:srgbClr val="1EA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62856" y="145389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47488" y="1344168"/>
            <a:ext cx="104241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0B1F3A"/>
                </a:solidFill>
              </a:rPr>
              <a:t>GEOMETRY CHECK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4572000" y="1746504"/>
            <a:ext cx="149961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4748B"/>
                </a:solidFill>
              </a:rPr>
              <a:t>Validate traverse, closure, bearings, distances, directions and tie lines.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6217920" y="1773936"/>
            <a:ext cx="13716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382512" y="1225296"/>
            <a:ext cx="1755648" cy="1097280"/>
          </a:xfrm>
          <a:prstGeom prst="roundRect">
            <a:avLst>
              <a:gd name="adj" fmla="val 6667"/>
            </a:avLst>
          </a:prstGeom>
          <a:solidFill>
            <a:srgbClr val="E9F8F2"/>
          </a:solidFill>
          <a:ln w="10160">
            <a:solidFill>
              <a:srgbClr val="00A676"/>
            </a:solidFill>
            <a:prstDash val="solid"/>
          </a:ln>
          <a:effectLst>
            <a:outerShdw blurRad="12700" dist="50800" dir="2700000" algn="bl" rotWithShape="0">
              <a:srgbClr val="D8DEE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501384" y="1371600"/>
            <a:ext cx="420624" cy="420624"/>
          </a:xfrm>
          <a:prstGeom prst="ellipse">
            <a:avLst/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01384" y="145389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86016" y="1344168"/>
            <a:ext cx="104241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0B1F3A"/>
                </a:solidFill>
              </a:rPr>
              <a:t>TOPOLOGY &amp; INTEGRITY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6510528" y="1746504"/>
            <a:ext cx="149961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4748B"/>
                </a:solidFill>
              </a:rPr>
              <a:t>Confirm point-line connectivity, duplicates and valid geometry.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8156448" y="1773936"/>
            <a:ext cx="13716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321040" y="1225296"/>
            <a:ext cx="1755648" cy="1097280"/>
          </a:xfrm>
          <a:prstGeom prst="roundRect">
            <a:avLst>
              <a:gd name="adj" fmla="val 6667"/>
            </a:avLst>
          </a:prstGeom>
          <a:solidFill>
            <a:srgbClr val="FFF6DA"/>
          </a:solidFill>
          <a:ln w="10160">
            <a:solidFill>
              <a:srgbClr val="F2B705"/>
            </a:solidFill>
            <a:prstDash val="solid"/>
          </a:ln>
          <a:effectLst>
            <a:outerShdw blurRad="12700" dist="50800" dir="2700000" algn="bl" rotWithShape="0">
              <a:srgbClr val="D8DEE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439912" y="1371600"/>
            <a:ext cx="420624" cy="42062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439912" y="145389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924544" y="1344168"/>
            <a:ext cx="104241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0B1F3A"/>
                </a:solidFill>
              </a:rPr>
              <a:t>DIGITAL CONSISTENCY</a:t>
            </a:r>
            <a:endParaRPr lang="en-US" sz="940" dirty="0"/>
          </a:p>
        </p:txBody>
      </p:sp>
      <p:sp>
        <p:nvSpPr>
          <p:cNvPr id="32" name="Text 30"/>
          <p:cNvSpPr/>
          <p:nvPr/>
        </p:nvSpPr>
        <p:spPr>
          <a:xfrm>
            <a:off x="8449056" y="1746504"/>
            <a:ext cx="149961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4748B"/>
                </a:solidFill>
              </a:rPr>
              <a:t>For digital submissions, confirm CAD and PDF represent the same survey.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10094976" y="1773936"/>
            <a:ext cx="13716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259568" y="1225296"/>
            <a:ext cx="175564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0B1F3A"/>
            </a:solidFill>
            <a:prstDash val="solid"/>
          </a:ln>
          <a:effectLst>
            <a:outerShdw blurRad="12700" dist="50800" dir="2700000" algn="bl" rotWithShape="0">
              <a:srgbClr val="D8DEE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378440" y="1371600"/>
            <a:ext cx="420624" cy="42062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378440" y="145389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863072" y="1344168"/>
            <a:ext cx="104241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0B1F3A"/>
                </a:solidFill>
              </a:rPr>
              <a:t>RESULT &amp; REVIEW</a:t>
            </a:r>
            <a:endParaRPr lang="en-US" sz="940" dirty="0"/>
          </a:p>
        </p:txBody>
      </p:sp>
      <p:sp>
        <p:nvSpPr>
          <p:cNvPr id="38" name="Text 36"/>
          <p:cNvSpPr/>
          <p:nvPr/>
        </p:nvSpPr>
        <p:spPr>
          <a:xfrm>
            <a:off x="10387584" y="1746504"/>
            <a:ext cx="149961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4748B"/>
                </a:solidFill>
              </a:rPr>
              <a:t>Compile findings; examiner confirms outcome before Compare.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640080" y="274320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EAF1FF"/>
          </a:solidFill>
          <a:ln w="10160">
            <a:solidFill>
              <a:srgbClr val="1E5BFF"/>
            </a:solidFill>
            <a:prstDash val="solid"/>
          </a:ln>
          <a:effectLst>
            <a:outerShdw blurRad="12700" dist="50800" dir="2700000" algn="bl" rotWithShape="0">
              <a:srgbClr val="D8DEE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22960" y="292608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5BFF"/>
                </a:solidFill>
              </a:rPr>
              <a:t>A. Validate Structure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22960" y="3246120"/>
            <a:ext cx="306324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0B1F3A"/>
                </a:solidFill>
              </a:rPr>
              <a:t>Is the submitted survey complete and correctly structured for computation?</a:t>
            </a:r>
            <a:endParaRPr lang="en-US" sz="970" dirty="0"/>
          </a:p>
        </p:txBody>
      </p:sp>
      <p:sp>
        <p:nvSpPr>
          <p:cNvPr id="42" name="Text 40"/>
          <p:cNvSpPr/>
          <p:nvPr/>
        </p:nvSpPr>
        <p:spPr>
          <a:xfrm>
            <a:off x="859536" y="3685032"/>
            <a:ext cx="29900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✓ Required plan elements present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59536" y="3931920"/>
            <a:ext cx="29900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✓ Coordinate / control information available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59536" y="4178808"/>
            <a:ext cx="29900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✓ Expected CAD layers / features present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59536" y="4425696"/>
            <a:ext cx="29900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✓ Computer sheet and plan data can be interpreted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59536" y="4672584"/>
            <a:ext cx="29900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✓ Spatial reference / JAD2001 context confirmed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370832" y="274320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EEF8FF"/>
          </a:solidFill>
          <a:ln w="10160">
            <a:solidFill>
              <a:srgbClr val="1EA7FF"/>
            </a:solidFill>
            <a:prstDash val="solid"/>
          </a:ln>
          <a:effectLst>
            <a:outerShdw blurRad="12700" dist="50800" dir="2700000" algn="bl" rotWithShape="0">
              <a:srgbClr val="D8DEE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553712" y="292608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A7FF"/>
                </a:solidFill>
              </a:rPr>
              <a:t>B. Validate Geometry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4553712" y="3246120"/>
            <a:ext cx="306324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0B1F3A"/>
                </a:solidFill>
              </a:rPr>
              <a:t>Is the survey mathematically and geometrically correct?</a:t>
            </a:r>
            <a:endParaRPr lang="en-US" sz="970" dirty="0"/>
          </a:p>
        </p:txBody>
      </p:sp>
      <p:sp>
        <p:nvSpPr>
          <p:cNvPr id="50" name="Text 48"/>
          <p:cNvSpPr/>
          <p:nvPr/>
        </p:nvSpPr>
        <p:spPr>
          <a:xfrm>
            <a:off x="4590288" y="3685032"/>
            <a:ext cx="29900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✓ Build points and boundary lines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590288" y="3931920"/>
            <a:ext cx="29900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✓ Traverse / closure within tolerance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590288" y="4178808"/>
            <a:ext cx="29900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✓ Bearings and distances match submission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590288" y="4425696"/>
            <a:ext cx="29900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✓ Line directions are correct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590288" y="4672584"/>
            <a:ext cx="29900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✓ Tie lines / referenced control points validate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101584" y="274320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E9F8F2"/>
          </a:solidFill>
          <a:ln w="10160">
            <a:solidFill>
              <a:srgbClr val="00A676"/>
            </a:solidFill>
            <a:prstDash val="solid"/>
          </a:ln>
          <a:effectLst>
            <a:outerShdw blurRad="12700" dist="50800" dir="2700000" algn="bl" rotWithShape="0">
              <a:srgbClr val="D8DEE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284464" y="292608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676"/>
                </a:solidFill>
              </a:rPr>
              <a:t>C. Validate Integrity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8284464" y="3246120"/>
            <a:ext cx="306324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0B1F3A"/>
                </a:solidFill>
              </a:rPr>
              <a:t>Is the GIS geometry internally consistent and ready for Compare?</a:t>
            </a:r>
            <a:endParaRPr lang="en-US" sz="970" dirty="0"/>
          </a:p>
        </p:txBody>
      </p:sp>
      <p:sp>
        <p:nvSpPr>
          <p:cNvPr id="58" name="Text 56"/>
          <p:cNvSpPr/>
          <p:nvPr/>
        </p:nvSpPr>
        <p:spPr>
          <a:xfrm>
            <a:off x="8321040" y="3685032"/>
            <a:ext cx="29900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✓ Points correspond to line endpoints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8321040" y="3931920"/>
            <a:ext cx="29900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✓ No duplicate points or boundary lines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321040" y="4178808"/>
            <a:ext cx="29900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✓ Valid connectivity / no structural breaks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321040" y="4425696"/>
            <a:ext cx="29900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✓ CAD vs PDF consistency where applicable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321040" y="4672584"/>
            <a:ext cx="29900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✓ Record warnings, failures and examiner comments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005840" y="5376672"/>
            <a:ext cx="10149840" cy="530352"/>
          </a:xfrm>
          <a:prstGeom prst="roundRect">
            <a:avLst>
              <a:gd name="adj" fmla="val 13793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225296" y="553212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COMPUTE OUTCOME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2788920" y="5477256"/>
            <a:ext cx="781812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10" b="1" dirty="0">
                <a:solidFill>
                  <a:srgbClr val="EAF1FF"/>
                </a:solidFill>
              </a:rPr>
              <a:t>Validated geometry + structured findings + examiner decision → ready for COMPARE or returned for correction.</a:t>
            </a:r>
            <a:endParaRPr lang="en-US" sz="1310" dirty="0"/>
          </a:p>
        </p:txBody>
      </p:sp>
      <p:sp>
        <p:nvSpPr>
          <p:cNvPr id="6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 — Plan Annexation after approval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PLA links the approved plan to the authoritative cadastral and title environment.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14400" y="1938528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FF6DA"/>
          </a:solidFill>
          <a:ln w="1016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8DEE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45336" y="2148840"/>
            <a:ext cx="420624" cy="42062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45336" y="223113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42416" y="267004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0B1F3A"/>
                </a:solidFill>
              </a:rPr>
              <a:t>Approved Plan</a:t>
            </a:r>
            <a:endParaRPr lang="en-US" sz="1090" dirty="0"/>
          </a:p>
        </p:txBody>
      </p:sp>
      <p:sp>
        <p:nvSpPr>
          <p:cNvPr id="8" name="Text 6"/>
          <p:cNvSpPr/>
          <p:nvPr/>
        </p:nvSpPr>
        <p:spPr>
          <a:xfrm>
            <a:off x="1024128" y="294436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64748B"/>
                </a:solidFill>
              </a:rPr>
              <a:t>Final PE outcome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2633472" y="2560320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063240" y="1938528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8DEE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94176" y="2148840"/>
            <a:ext cx="420624" cy="420624"/>
          </a:xfrm>
          <a:prstGeom prst="ellipse">
            <a:avLst/>
          </a:prstGeom>
          <a:solidFill>
            <a:srgbClr val="1EA7FF"/>
          </a:solidFill>
          <a:ln w="12700">
            <a:solidFill>
              <a:srgbClr val="1EA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94176" y="223113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91256" y="267004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0B1F3A"/>
                </a:solidFill>
              </a:rPr>
              <a:t>RT Examination</a:t>
            </a:r>
            <a:endParaRPr lang="en-US" sz="1090" dirty="0"/>
          </a:p>
        </p:txBody>
      </p:sp>
      <p:sp>
        <p:nvSpPr>
          <p:cNvPr id="14" name="Text 12"/>
          <p:cNvSpPr/>
          <p:nvPr/>
        </p:nvSpPr>
        <p:spPr>
          <a:xfrm>
            <a:off x="3172968" y="294436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64748B"/>
                </a:solidFill>
              </a:rPr>
              <a:t>legal/spatial readiness</a:t>
            </a:r>
            <a:endParaRPr lang="en-US" sz="790" dirty="0"/>
          </a:p>
        </p:txBody>
      </p:sp>
      <p:sp>
        <p:nvSpPr>
          <p:cNvPr id="15" name="Shape 13"/>
          <p:cNvSpPr/>
          <p:nvPr/>
        </p:nvSpPr>
        <p:spPr>
          <a:xfrm>
            <a:off x="4782312" y="2560320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12080" y="1938528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E9F8F2"/>
          </a:solidFill>
          <a:ln w="10160">
            <a:solidFill>
              <a:srgbClr val="00A676"/>
            </a:solidFill>
            <a:prstDash val="solid"/>
          </a:ln>
          <a:effectLst>
            <a:outerShdw blurRad="12700" dist="50800" dir="2700000" algn="bl" rotWithShape="0">
              <a:srgbClr val="D8DEE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843016" y="2148840"/>
            <a:ext cx="420624" cy="420624"/>
          </a:xfrm>
          <a:prstGeom prst="ellipse">
            <a:avLst/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43016" y="223113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40096" y="267004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0B1F3A"/>
                </a:solidFill>
              </a:rPr>
              <a:t>Parcel Fabric Update</a:t>
            </a:r>
            <a:endParaRPr lang="en-US" sz="1090" dirty="0"/>
          </a:p>
        </p:txBody>
      </p:sp>
      <p:sp>
        <p:nvSpPr>
          <p:cNvPr id="20" name="Text 18"/>
          <p:cNvSpPr/>
          <p:nvPr/>
        </p:nvSpPr>
        <p:spPr>
          <a:xfrm>
            <a:off x="5321808" y="294436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64748B"/>
                </a:solidFill>
              </a:rPr>
              <a:t>create/update authoritative parcel</a:t>
            </a:r>
            <a:endParaRPr lang="en-US" sz="790" dirty="0"/>
          </a:p>
        </p:txBody>
      </p:sp>
      <p:sp>
        <p:nvSpPr>
          <p:cNvPr id="21" name="Shape 19"/>
          <p:cNvSpPr/>
          <p:nvPr/>
        </p:nvSpPr>
        <p:spPr>
          <a:xfrm>
            <a:off x="6931152" y="2560320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60920" y="1938528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EAF1FF"/>
          </a:solidFill>
          <a:ln w="10160">
            <a:solidFill>
              <a:srgbClr val="1E5BFF"/>
            </a:solidFill>
            <a:prstDash val="solid"/>
          </a:ln>
          <a:effectLst>
            <a:outerShdw blurRad="12700" dist="50800" dir="2700000" algn="bl" rotWithShape="0">
              <a:srgbClr val="D8DEE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991856" y="2148840"/>
            <a:ext cx="420624" cy="420624"/>
          </a:xfrm>
          <a:prstGeom prst="ellipse">
            <a:avLst/>
          </a:prstGeom>
          <a:solidFill>
            <a:srgbClr val="1E5BFF"/>
          </a:solidFill>
          <a:ln w="1270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991856" y="223113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88936" y="267004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0B1F3A"/>
                </a:solidFill>
              </a:rPr>
              <a:t>Plan Annexation</a:t>
            </a:r>
            <a:endParaRPr lang="en-US" sz="1090" dirty="0"/>
          </a:p>
        </p:txBody>
      </p:sp>
      <p:sp>
        <p:nvSpPr>
          <p:cNvPr id="26" name="Text 24"/>
          <p:cNvSpPr/>
          <p:nvPr/>
        </p:nvSpPr>
        <p:spPr>
          <a:xfrm>
            <a:off x="7470648" y="294436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64748B"/>
                </a:solidFill>
              </a:rPr>
              <a:t>link plan to parcel/title</a:t>
            </a:r>
            <a:endParaRPr lang="en-US" sz="790" dirty="0"/>
          </a:p>
        </p:txBody>
      </p:sp>
      <p:sp>
        <p:nvSpPr>
          <p:cNvPr id="27" name="Shape 25"/>
          <p:cNvSpPr/>
          <p:nvPr/>
        </p:nvSpPr>
        <p:spPr>
          <a:xfrm>
            <a:off x="9079992" y="2560320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509760" y="1938528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8DEE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140696" y="2148840"/>
            <a:ext cx="420624" cy="42062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140696" y="223113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37776" y="267004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0B1F3A"/>
                </a:solidFill>
              </a:rPr>
              <a:t>eTitles / LTD</a:t>
            </a:r>
            <a:endParaRPr lang="en-US" sz="1090" dirty="0"/>
          </a:p>
        </p:txBody>
      </p:sp>
      <p:sp>
        <p:nvSpPr>
          <p:cNvPr id="32" name="Text 30"/>
          <p:cNvSpPr/>
          <p:nvPr/>
        </p:nvSpPr>
        <p:spPr>
          <a:xfrm>
            <a:off x="9619488" y="294436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64748B"/>
                </a:solidFill>
              </a:rPr>
              <a:t>return status and audit</a:t>
            </a:r>
            <a:endParaRPr lang="en-US" sz="790" dirty="0"/>
          </a:p>
        </p:txBody>
      </p:sp>
      <p:sp>
        <p:nvSpPr>
          <p:cNvPr id="33" name="Shape 31"/>
          <p:cNvSpPr/>
          <p:nvPr/>
        </p:nvSpPr>
        <p:spPr>
          <a:xfrm>
            <a:off x="1005840" y="4206240"/>
            <a:ext cx="10149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DE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243584" y="44256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5BFF"/>
                </a:solidFill>
              </a:rPr>
              <a:t>Simple PM explanation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10128" y="4334256"/>
            <a:ext cx="7406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</a:rPr>
              <a:t>PE validates the survey. PLA makes the approved survey operational by connecting it to the authoritative parcel fabric and the title/registry process.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594360" y="6080760"/>
            <a:ext cx="11018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B1F3A"/>
                </a:solidFill>
              </a:rPr>
              <a:t>PLA is the bridge from approved survey plan to authoritative parcel-title relationship.</a:t>
            </a:r>
            <a:endParaRPr lang="en-US" sz="112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Management value: why the workflows matter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The value is less about a tool and more about controlled, repeatable, auditable spatial processing.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41248" y="150876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EAF1FF"/>
          </a:solidFill>
          <a:ln w="10160">
            <a:solidFill>
              <a:srgbClr val="1E5BFF"/>
            </a:solidFill>
            <a:prstDash val="solid"/>
          </a:ln>
          <a:effectLst>
            <a:outerShdw blurRad="12700" dist="50800" dir="2700000" algn="bl" rotWithShape="0">
              <a:srgbClr val="D8DEE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97280" y="1865376"/>
            <a:ext cx="420624" cy="420624"/>
          </a:xfrm>
          <a:prstGeom prst="ellipse">
            <a:avLst/>
          </a:prstGeom>
          <a:solidFill>
            <a:srgbClr val="1E5BFF"/>
          </a:solidFill>
          <a:ln w="1270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94767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45920" y="178308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Consistency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084832"/>
            <a:ext cx="37947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F2937"/>
                </a:solidFill>
              </a:rPr>
              <a:t>Same structured steps for every comparable transaction.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6419088" y="150876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E9F8F2"/>
          </a:solidFill>
          <a:ln w="10160">
            <a:solidFill>
              <a:srgbClr val="00A676"/>
            </a:solidFill>
            <a:prstDash val="solid"/>
          </a:ln>
          <a:effectLst>
            <a:outerShdw blurRad="12700" dist="50800" dir="2700000" algn="bl" rotWithShape="0">
              <a:srgbClr val="D8DEE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675120" y="1865376"/>
            <a:ext cx="420624" cy="420624"/>
          </a:xfrm>
          <a:prstGeom prst="ellipse">
            <a:avLst/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0" y="194767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223760" y="178308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Traceability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0" y="2084832"/>
            <a:ext cx="37947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F2937"/>
                </a:solidFill>
              </a:rPr>
              <a:t>Every spatial action tied to transaction ID, user, time and output.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841248" y="310896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FFF6DA"/>
          </a:solidFill>
          <a:ln w="10160">
            <a:solidFill>
              <a:srgbClr val="F2B705"/>
            </a:solidFill>
            <a:prstDash val="solid"/>
          </a:ln>
          <a:effectLst>
            <a:outerShdw blurRad="12700" dist="50800" dir="2700000" algn="bl" rotWithShape="0">
              <a:srgbClr val="D8DEE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97280" y="3465576"/>
            <a:ext cx="420624" cy="42062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354787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45920" y="338328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Quality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3685032"/>
            <a:ext cx="37947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F2937"/>
                </a:solidFill>
              </a:rPr>
              <a:t>Systematic geometry, topology, closure and conflict checks.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6419088" y="310896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0B1F3A"/>
            </a:solidFill>
            <a:prstDash val="solid"/>
          </a:ln>
          <a:effectLst>
            <a:outerShdw blurRad="12700" dist="50800" dir="2700000" algn="bl" rotWithShape="0">
              <a:srgbClr val="D8DEE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675120" y="3465576"/>
            <a:ext cx="420624" cy="42062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75120" y="354787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338328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Integration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3685032"/>
            <a:ext cx="37947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F2937"/>
                </a:solidFill>
              </a:rPr>
              <a:t>SMD, LTD, valuation and records operate through one workflow backbone.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1051560" y="4983480"/>
            <a:ext cx="9966960" cy="713232"/>
          </a:xfrm>
          <a:prstGeom prst="roundRect">
            <a:avLst>
              <a:gd name="adj" fmla="val 10256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325880" y="518464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Executive takeaway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337560" y="5102352"/>
            <a:ext cx="7132320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EAF1FF"/>
                </a:solidFill>
              </a:rPr>
              <a:t>PE/PXA/PLA create a controlled chain from submitted survey to validated geometry to authoritative cadastral/title update.</a:t>
            </a:r>
            <a:endParaRPr lang="en-US" sz="152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767</Words>
  <Application>Microsoft Office PowerPoint</Application>
  <PresentationFormat>Widescreen</PresentationFormat>
  <Paragraphs>150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Sidwell / Fujitsu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 / PXA / PLA PM Brief</dc:title>
  <dc:subject>Jamaica eTitles - SMD spatial workflows</dc:subject>
  <dc:creator>OpenAI</dc:creator>
  <cp:lastModifiedBy>Juan Pablo Solíz</cp:lastModifiedBy>
  <cp:revision>2</cp:revision>
  <dcterms:created xsi:type="dcterms:W3CDTF">2026-09-03T13:05:38Z</dcterms:created>
  <dcterms:modified xsi:type="dcterms:W3CDTF">2026-09-03T13:18:24Z</dcterms:modified>
</cp:coreProperties>
</file>