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0" r:id="rId5"/>
    <p:sldId id="261" r:id="rId6"/>
    <p:sldId id="262" r:id="rId7"/>
    <p:sldId id="263" r:id="rId8"/>
    <p:sldId id="264" r:id="rId9"/>
    <p:sldId id="265" r:id="rId10"/>
    <p:sldId id="268" r:id="rId11"/>
    <p:sldId id="267" r:id="rId12"/>
    <p:sldId id="266" r:id="rId13"/>
  </p:sldIdLst>
  <p:sldSz cx="12192000" cy="6858000"/>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051" autoAdjust="0"/>
    <p:restoredTop sz="94660"/>
  </p:normalViewPr>
  <p:slideViewPr>
    <p:cSldViewPr snapToGrid="0">
      <p:cViewPr varScale="1">
        <p:scale>
          <a:sx n="103" d="100"/>
          <a:sy n="103" d="100"/>
        </p:scale>
        <p:origin x="11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761E-33CB-FB61-3C3F-04B8C765EFA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9F8B6D3-9FFA-B230-F090-D03CDBFE6D31}"/>
              </a:ext>
            </a:extLst>
          </p:cNvPr>
          <p:cNvSpPr>
            <a:spLocks noGrp="1"/>
          </p:cNvSpPr>
          <p:nvPr>
            <p:ph type="body"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457200" y="457200"/>
            <a:ext cx="6191250" cy="266700"/>
          </a:xfrm>
          <a:prstGeom prst="rect">
            <a:avLst/>
          </a:prstGeom>
          <a:noFill/>
          <a:ln>
            <a:noFill/>
          </a:ln>
        </p:spPr>
        <p:txBody>
          <a:bodyPr wrap="square" anchor="t"/>
          <a:lstStyle/>
          <a:p>
            <a:pPr algn="l"/>
            <a:r>
              <a:rPr lang="en-US" sz="1600" b="1" dirty="0">
                <a:solidFill>
                  <a:srgbClr val="555555"/>
                </a:solidFill>
                <a:latin typeface="Arial"/>
              </a:rPr>
              <a:t>NLA e-Titling | ArcGIS Pro and </a:t>
            </a:r>
            <a:r>
              <a:rPr lang="en-US" sz="1600" b="1" dirty="0" err="1">
                <a:solidFill>
                  <a:srgbClr val="555555"/>
                </a:solidFill>
                <a:latin typeface="Arial"/>
              </a:rPr>
              <a:t>Cadastre</a:t>
            </a:r>
            <a:r>
              <a:rPr lang="en-US" sz="1600" b="1" dirty="0">
                <a:solidFill>
                  <a:srgbClr val="555555"/>
                </a:solidFill>
                <a:latin typeface="Arial"/>
              </a:rPr>
              <a:t> Tools</a:t>
            </a:r>
            <a:endParaRPr lang="en-US" sz="1600" dirty="0"/>
          </a:p>
        </p:txBody>
      </p:sp>
      <p:sp>
        <p:nvSpPr>
          <p:cNvPr id="3" name="Main title"/>
          <p:cNvSpPr txBox="1"/>
          <p:nvPr/>
        </p:nvSpPr>
        <p:spPr>
          <a:xfrm>
            <a:off x="457200" y="1543050"/>
            <a:ext cx="9334500" cy="1619250"/>
          </a:xfrm>
          <a:prstGeom prst="rect">
            <a:avLst/>
          </a:prstGeom>
          <a:noFill/>
          <a:ln>
            <a:noFill/>
          </a:ln>
        </p:spPr>
        <p:txBody>
          <a:bodyPr wrap="square" anchor="t"/>
          <a:lstStyle/>
          <a:p>
            <a:pPr algn="l"/>
            <a:r>
              <a:rPr lang="en-US" sz="5200" b="1" dirty="0">
                <a:solidFill>
                  <a:srgbClr val="000000"/>
                </a:solidFill>
                <a:latin typeface="Arial"/>
              </a:rPr>
              <a:t>ArcGIS Pro and Plan Examination</a:t>
            </a:r>
            <a:endParaRPr lang="en-US" sz="5200" dirty="0"/>
          </a:p>
          <a:p>
            <a:pPr algn="l"/>
            <a:r>
              <a:rPr lang="en-US" sz="5200" b="1" dirty="0">
                <a:solidFill>
                  <a:srgbClr val="000000"/>
                </a:solidFill>
                <a:latin typeface="Arial"/>
              </a:rPr>
              <a:t>4-day training overview</a:t>
            </a:r>
            <a:endParaRPr lang="en-US" sz="5200" dirty="0"/>
          </a:p>
        </p:txBody>
      </p:sp>
      <p:sp>
        <p:nvSpPr>
          <p:cNvPr id="4" name="Subtitle"/>
          <p:cNvSpPr txBox="1"/>
          <p:nvPr/>
        </p:nvSpPr>
        <p:spPr>
          <a:xfrm>
            <a:off x="531876" y="4632960"/>
            <a:ext cx="6858000" cy="1047750"/>
          </a:xfrm>
          <a:prstGeom prst="rect">
            <a:avLst/>
          </a:prstGeom>
          <a:noFill/>
          <a:ln>
            <a:noFill/>
          </a:ln>
        </p:spPr>
        <p:txBody>
          <a:bodyPr wrap="square" anchor="t"/>
          <a:lstStyle/>
          <a:p>
            <a:pPr algn="l"/>
            <a:r>
              <a:rPr lang="en-US" sz="2200" dirty="0">
                <a:solidFill>
                  <a:srgbClr val="333333"/>
                </a:solidFill>
                <a:latin typeface="Arial"/>
              </a:rPr>
              <a:t>Two days establish the ArcGIS Pro working model. Two days apply that model to the Plan Examination transaction and the </a:t>
            </a:r>
            <a:r>
              <a:rPr lang="en-US" sz="2200" dirty="0" err="1">
                <a:solidFill>
                  <a:srgbClr val="333333"/>
                </a:solidFill>
                <a:latin typeface="Arial"/>
              </a:rPr>
              <a:t>Cadastre</a:t>
            </a:r>
            <a:r>
              <a:rPr lang="en-US" sz="2200" dirty="0">
                <a:solidFill>
                  <a:srgbClr val="333333"/>
                </a:solidFill>
                <a:latin typeface="Arial"/>
              </a:rPr>
              <a:t> tools.</a:t>
            </a:r>
            <a:endParaRPr lang="en-US" sz="2200" dirty="0"/>
          </a:p>
        </p:txBody>
      </p:sp>
      <p:sp>
        <p:nvSpPr>
          <p:cNvPr id="5" name="Right rail"/>
          <p:cNvSpPr/>
          <p:nvPr/>
        </p:nvSpPr>
        <p:spPr>
          <a:xfrm>
            <a:off x="9144000" y="762000"/>
            <a:ext cx="2722732" cy="5730240"/>
          </a:xfrm>
          <a:prstGeom prst="rect">
            <a:avLst/>
          </a:prstGeom>
          <a:solidFill>
            <a:srgbClr val="F0F3F6"/>
          </a:solidFill>
          <a:ln w="12700">
            <a:solidFill>
              <a:srgbClr val="F0F3F6"/>
            </a:solidFill>
          </a:ln>
        </p:spPr>
        <p:txBody>
          <a:bodyPr/>
          <a:lstStyle/>
          <a:p>
            <a:endParaRPr/>
          </a:p>
        </p:txBody>
      </p:sp>
      <p:sp>
        <p:nvSpPr>
          <p:cNvPr id="7" name="Footer"/>
          <p:cNvSpPr txBox="1"/>
          <p:nvPr/>
        </p:nvSpPr>
        <p:spPr>
          <a:xfrm>
            <a:off x="457200" y="6343650"/>
            <a:ext cx="7620000" cy="266700"/>
          </a:xfrm>
          <a:prstGeom prst="rect">
            <a:avLst/>
          </a:prstGeom>
          <a:noFill/>
          <a:ln>
            <a:noFill/>
          </a:ln>
        </p:spPr>
        <p:txBody>
          <a:bodyPr wrap="square" anchor="t"/>
          <a:lstStyle/>
          <a:p>
            <a:pPr algn="l"/>
            <a:r>
              <a:rPr lang="en-US" sz="1200" dirty="0">
                <a:solidFill>
                  <a:srgbClr val="666666"/>
                </a:solidFill>
                <a:latin typeface="Arial"/>
              </a:rPr>
              <a:t>Prepared for initial planning</a:t>
            </a:r>
            <a:endParaRPr lang="en-US" sz="1200" dirty="0"/>
          </a:p>
        </p:txBody>
      </p:sp>
      <p:pic>
        <p:nvPicPr>
          <p:cNvPr id="9" name="Picture 8">
            <a:extLst>
              <a:ext uri="{FF2B5EF4-FFF2-40B4-BE49-F238E27FC236}">
                <a16:creationId xmlns:a16="http://schemas.microsoft.com/office/drawing/2014/main" id="{5452D9EB-D1AD-05AC-82C5-E429765BA2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11329416" cy="876300"/>
          </a:xfrm>
          <a:prstGeom prst="rect">
            <a:avLst/>
          </a:prstGeom>
          <a:noFill/>
          <a:ln>
            <a:noFill/>
          </a:ln>
        </p:spPr>
        <p:txBody>
          <a:bodyPr wrap="square" anchor="t"/>
          <a:lstStyle/>
          <a:p>
            <a:pPr algn="l"/>
            <a:r>
              <a:rPr lang="en-US" sz="3800" b="1" dirty="0">
                <a:solidFill>
                  <a:srgbClr val="111111"/>
                </a:solidFill>
                <a:latin typeface="Calibri" panose="020F0502020204030204" pitchFamily="34" charset="0"/>
                <a:ea typeface="Calibri" panose="020F0502020204030204" pitchFamily="34" charset="0"/>
                <a:cs typeface="Calibri" panose="020F0502020204030204" pitchFamily="34" charset="0"/>
              </a:rPr>
              <a:t>The four days build from platform habits to examination decisions</a:t>
            </a:r>
            <a:endParaRPr lang="en-US" sz="3800" dirty="0">
              <a:latin typeface="Calibri" panose="020F0502020204030204" pitchFamily="34" charset="0"/>
              <a:ea typeface="Calibri" panose="020F0502020204030204" pitchFamily="34" charset="0"/>
              <a:cs typeface="Calibri" panose="020F0502020204030204" pitchFamily="34" charset="0"/>
            </a:endParaRPr>
          </a:p>
        </p:txBody>
      </p:sp>
      <p:sp>
        <p:nvSpPr>
          <p:cNvPr id="3" name="D1"/>
          <p:cNvSpPr/>
          <p:nvPr/>
        </p:nvSpPr>
        <p:spPr>
          <a:xfrm>
            <a:off x="590550" y="1714500"/>
            <a:ext cx="2571750" cy="4439412"/>
          </a:xfrm>
          <a:prstGeom prst="rect">
            <a:avLst/>
          </a:prstGeom>
          <a:solidFill>
            <a:srgbClr val="F4F4F4"/>
          </a:solidFill>
          <a:ln w="12700">
            <a:solidFill>
              <a:srgbClr val="B8BCC4"/>
            </a:solidFill>
          </a:ln>
        </p:spPr>
        <p:txBody>
          <a:bodyPr/>
          <a:lstStyle/>
          <a:p>
            <a:endParaRPr>
              <a:latin typeface="Calibri" panose="020F0502020204030204" pitchFamily="34" charset="0"/>
              <a:ea typeface="Calibri" panose="020F0502020204030204" pitchFamily="34" charset="0"/>
              <a:cs typeface="Calibri" panose="020F0502020204030204" pitchFamily="34" charset="0"/>
            </a:endParaRPr>
          </a:p>
        </p:txBody>
      </p:sp>
      <p:sp>
        <p:nvSpPr>
          <p:cNvPr id="4" name="D2"/>
          <p:cNvSpPr/>
          <p:nvPr/>
        </p:nvSpPr>
        <p:spPr>
          <a:xfrm>
            <a:off x="3409950" y="1714500"/>
            <a:ext cx="2571750" cy="4439412"/>
          </a:xfrm>
          <a:prstGeom prst="rect">
            <a:avLst/>
          </a:prstGeom>
          <a:solidFill>
            <a:srgbClr val="F4F4F4"/>
          </a:solidFill>
          <a:ln w="12700">
            <a:solidFill>
              <a:srgbClr val="B8BCC4"/>
            </a:solidFill>
          </a:ln>
        </p:spPr>
        <p:txBody>
          <a:bodyPr/>
          <a:lstStyle/>
          <a:p>
            <a:endParaRPr>
              <a:latin typeface="Calibri" panose="020F0502020204030204" pitchFamily="34" charset="0"/>
              <a:ea typeface="Calibri" panose="020F0502020204030204" pitchFamily="34" charset="0"/>
              <a:cs typeface="Calibri" panose="020F0502020204030204" pitchFamily="34" charset="0"/>
            </a:endParaRPr>
          </a:p>
        </p:txBody>
      </p:sp>
      <p:sp>
        <p:nvSpPr>
          <p:cNvPr id="5" name="D3"/>
          <p:cNvSpPr/>
          <p:nvPr/>
        </p:nvSpPr>
        <p:spPr>
          <a:xfrm>
            <a:off x="6229350" y="1714500"/>
            <a:ext cx="2571750" cy="4439412"/>
          </a:xfrm>
          <a:prstGeom prst="rect">
            <a:avLst/>
          </a:prstGeom>
          <a:solidFill>
            <a:srgbClr val="FFF2EA"/>
          </a:solidFill>
          <a:ln w="12700">
            <a:solidFill>
              <a:srgbClr val="FF6B35"/>
            </a:solidFill>
          </a:ln>
        </p:spPr>
        <p:txBody>
          <a:bodyPr/>
          <a:lstStyle/>
          <a:p>
            <a:endParaRPr>
              <a:latin typeface="Calibri" panose="020F0502020204030204" pitchFamily="34" charset="0"/>
              <a:ea typeface="Calibri" panose="020F0502020204030204" pitchFamily="34" charset="0"/>
              <a:cs typeface="Calibri" panose="020F0502020204030204" pitchFamily="34" charset="0"/>
            </a:endParaRPr>
          </a:p>
        </p:txBody>
      </p:sp>
      <p:sp>
        <p:nvSpPr>
          <p:cNvPr id="6" name="D4"/>
          <p:cNvSpPr/>
          <p:nvPr/>
        </p:nvSpPr>
        <p:spPr>
          <a:xfrm>
            <a:off x="9048750" y="1714500"/>
            <a:ext cx="2571750" cy="4439412"/>
          </a:xfrm>
          <a:prstGeom prst="rect">
            <a:avLst/>
          </a:prstGeom>
          <a:solidFill>
            <a:srgbClr val="FFF2EA"/>
          </a:solidFill>
          <a:ln w="12700">
            <a:solidFill>
              <a:srgbClr val="FF6B35"/>
            </a:solidFill>
          </a:ln>
        </p:spPr>
        <p:txBody>
          <a:bodyPr/>
          <a:lstStyle/>
          <a:p>
            <a:endParaRPr>
              <a:latin typeface="Calibri" panose="020F0502020204030204" pitchFamily="34" charset="0"/>
              <a:ea typeface="Calibri" panose="020F0502020204030204" pitchFamily="34" charset="0"/>
              <a:cs typeface="Calibri" panose="020F0502020204030204" pitchFamily="34" charset="0"/>
            </a:endParaRPr>
          </a:p>
        </p:txBody>
      </p:sp>
      <p:sp>
        <p:nvSpPr>
          <p:cNvPr id="7" name="D1 text"/>
          <p:cNvSpPr txBox="1"/>
          <p:nvPr/>
        </p:nvSpPr>
        <p:spPr>
          <a:xfrm>
            <a:off x="838200" y="2000250"/>
            <a:ext cx="2095500" cy="3979926"/>
          </a:xfrm>
          <a:prstGeom prst="rect">
            <a:avLst/>
          </a:prstGeom>
          <a:noFill/>
          <a:ln>
            <a:noFill/>
          </a:ln>
        </p:spPr>
        <p:txBody>
          <a:bodyPr wrap="square" anchor="t"/>
          <a:lstStyle/>
          <a:p>
            <a:pPr algn="l"/>
            <a:r>
              <a:rPr lang="en-US" sz="2000" b="1" i="1" dirty="0">
                <a:solidFill>
                  <a:srgbClr val="000000"/>
                </a:solidFill>
                <a:latin typeface="Calibri" panose="020F0502020204030204" pitchFamily="34" charset="0"/>
                <a:ea typeface="Calibri" panose="020F0502020204030204" pitchFamily="34" charset="0"/>
                <a:cs typeface="Calibri" panose="020F0502020204030204" pitchFamily="34" charset="0"/>
              </a:rPr>
              <a:t>Day 1</a:t>
            </a:r>
          </a:p>
          <a:p>
            <a:pPr algn="l"/>
            <a:endParaRPr lang="en-US" sz="900" i="1" dirty="0">
              <a:latin typeface="Calibri" panose="020F0502020204030204" pitchFamily="34" charset="0"/>
              <a:ea typeface="Calibri" panose="020F0502020204030204" pitchFamily="34" charset="0"/>
              <a:cs typeface="Calibri" panose="020F0502020204030204" pitchFamily="34" charset="0"/>
            </a:endParaRPr>
          </a:p>
          <a:p>
            <a:pPr algn="l"/>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ArcGIS Pro foundations</a:t>
            </a:r>
            <a:endParaRPr lang="en-US" sz="2000" dirty="0">
              <a:latin typeface="Calibri" panose="020F0502020204030204" pitchFamily="34" charset="0"/>
              <a:ea typeface="Calibri" panose="020F0502020204030204" pitchFamily="34" charset="0"/>
              <a:cs typeface="Calibri" panose="020F0502020204030204" pitchFamily="34" charset="0"/>
            </a:endParaRPr>
          </a:p>
          <a:p>
            <a:pPr algn="l"/>
            <a:r>
              <a:rPr lang="en-US" sz="2000" b="1" u="sng" dirty="0">
                <a:solidFill>
                  <a:srgbClr val="000000"/>
                </a:solidFill>
                <a:latin typeface="Calibri" panose="020F0502020204030204" pitchFamily="34" charset="0"/>
                <a:ea typeface="Calibri" panose="020F0502020204030204" pitchFamily="34" charset="0"/>
                <a:cs typeface="Calibri" panose="020F0502020204030204" pitchFamily="34" charset="0"/>
              </a:rPr>
              <a:t>Unit 1</a:t>
            </a:r>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 introduces projects, maps, panes, data, navigation, selection, joins, labels, and symbology. </a:t>
            </a:r>
          </a:p>
          <a:p>
            <a:pPr algn="l"/>
            <a:r>
              <a:rPr lang="en-US" sz="2000" b="1" u="sng" dirty="0">
                <a:solidFill>
                  <a:srgbClr val="000000"/>
                </a:solidFill>
                <a:latin typeface="Calibri" panose="020F0502020204030204" pitchFamily="34" charset="0"/>
                <a:ea typeface="Calibri" panose="020F0502020204030204" pitchFamily="34" charset="0"/>
                <a:cs typeface="Calibri" panose="020F0502020204030204" pitchFamily="34" charset="0"/>
              </a:rPr>
              <a:t>Unit 2</a:t>
            </a:r>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 introduces editing.</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8" name="D2 text"/>
          <p:cNvSpPr txBox="1"/>
          <p:nvPr/>
        </p:nvSpPr>
        <p:spPr>
          <a:xfrm>
            <a:off x="3657600" y="2000250"/>
            <a:ext cx="2095500" cy="3787902"/>
          </a:xfrm>
          <a:prstGeom prst="rect">
            <a:avLst/>
          </a:prstGeom>
          <a:noFill/>
          <a:ln>
            <a:noFill/>
          </a:ln>
        </p:spPr>
        <p:txBody>
          <a:bodyPr wrap="square" anchor="t"/>
          <a:lstStyle/>
          <a:p>
            <a:pPr algn="l"/>
            <a:r>
              <a:rPr lang="en-US" sz="2000" b="1" i="1" dirty="0">
                <a:solidFill>
                  <a:srgbClr val="000000"/>
                </a:solidFill>
                <a:latin typeface="Calibri" panose="020F0502020204030204" pitchFamily="34" charset="0"/>
                <a:ea typeface="Calibri" panose="020F0502020204030204" pitchFamily="34" charset="0"/>
                <a:cs typeface="Calibri" panose="020F0502020204030204" pitchFamily="34" charset="0"/>
              </a:rPr>
              <a:t>Day 2</a:t>
            </a:r>
          </a:p>
          <a:p>
            <a:pPr algn="l"/>
            <a:endParaRPr lang="en-US" sz="900" i="1" dirty="0">
              <a:latin typeface="Calibri" panose="020F0502020204030204" pitchFamily="34" charset="0"/>
              <a:ea typeface="Calibri" panose="020F0502020204030204" pitchFamily="34" charset="0"/>
              <a:cs typeface="Calibri" panose="020F0502020204030204" pitchFamily="34" charset="0"/>
            </a:endParaRPr>
          </a:p>
          <a:p>
            <a:pPr algn="l"/>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Production workflows</a:t>
            </a:r>
            <a:endParaRPr lang="en-US" sz="2000" dirty="0">
              <a:latin typeface="Calibri" panose="020F0502020204030204" pitchFamily="34" charset="0"/>
              <a:ea typeface="Calibri" panose="020F0502020204030204" pitchFamily="34" charset="0"/>
              <a:cs typeface="Calibri" panose="020F0502020204030204" pitchFamily="34" charset="0"/>
            </a:endParaRPr>
          </a:p>
          <a:p>
            <a:pPr algn="l"/>
            <a:r>
              <a:rPr lang="en-US" sz="2000" b="1" u="sng" dirty="0">
                <a:solidFill>
                  <a:srgbClr val="000000"/>
                </a:solidFill>
                <a:latin typeface="Calibri" panose="020F0502020204030204" pitchFamily="34" charset="0"/>
                <a:ea typeface="Calibri" panose="020F0502020204030204" pitchFamily="34" charset="0"/>
                <a:cs typeface="Calibri" panose="020F0502020204030204" pitchFamily="34" charset="0"/>
              </a:rPr>
              <a:t>Units 3-5 </a:t>
            </a:r>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cover layouts, map series, parcel fabric concepts, custom ribbons, and ArcGIS Pro Tasks.</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9" name="D3 text"/>
          <p:cNvSpPr txBox="1"/>
          <p:nvPr/>
        </p:nvSpPr>
        <p:spPr>
          <a:xfrm>
            <a:off x="6477000" y="2000250"/>
            <a:ext cx="2095500" cy="3787902"/>
          </a:xfrm>
          <a:prstGeom prst="rect">
            <a:avLst/>
          </a:prstGeom>
          <a:noFill/>
          <a:ln>
            <a:noFill/>
          </a:ln>
        </p:spPr>
        <p:txBody>
          <a:bodyPr wrap="square" anchor="t"/>
          <a:lstStyle/>
          <a:p>
            <a:pPr algn="l"/>
            <a:r>
              <a:rPr lang="en-US" sz="2000" b="1" i="1" dirty="0">
                <a:solidFill>
                  <a:srgbClr val="000000"/>
                </a:solidFill>
                <a:latin typeface="Calibri" panose="020F0502020204030204" pitchFamily="34" charset="0"/>
                <a:ea typeface="Calibri" panose="020F0502020204030204" pitchFamily="34" charset="0"/>
                <a:cs typeface="Calibri" panose="020F0502020204030204" pitchFamily="34" charset="0"/>
              </a:rPr>
              <a:t>Day 3</a:t>
            </a:r>
          </a:p>
          <a:p>
            <a:pPr algn="l"/>
            <a:endParaRPr lang="en-US" sz="900" i="1" dirty="0">
              <a:latin typeface="Calibri" panose="020F0502020204030204" pitchFamily="34" charset="0"/>
              <a:ea typeface="Calibri" panose="020F0502020204030204" pitchFamily="34" charset="0"/>
              <a:cs typeface="Calibri" panose="020F0502020204030204" pitchFamily="34" charset="0"/>
            </a:endParaRPr>
          </a:p>
          <a:p>
            <a:pPr algn="l"/>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Plan Examination Compute</a:t>
            </a:r>
            <a:endParaRPr lang="en-US" sz="2000" dirty="0">
              <a:latin typeface="Calibri" panose="020F0502020204030204" pitchFamily="34" charset="0"/>
              <a:ea typeface="Calibri" panose="020F0502020204030204" pitchFamily="34" charset="0"/>
              <a:cs typeface="Calibri" panose="020F0502020204030204" pitchFamily="34" charset="0"/>
            </a:endParaRPr>
          </a:p>
          <a:p>
            <a:pPr algn="l"/>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Open the transaction, review documents, validate spatial data, correct evidence, and create review outputs.</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10" name="D4 text"/>
          <p:cNvSpPr txBox="1"/>
          <p:nvPr/>
        </p:nvSpPr>
        <p:spPr>
          <a:xfrm>
            <a:off x="9296400" y="2000250"/>
            <a:ext cx="2095500" cy="3787902"/>
          </a:xfrm>
          <a:prstGeom prst="rect">
            <a:avLst/>
          </a:prstGeom>
          <a:noFill/>
          <a:ln>
            <a:noFill/>
          </a:ln>
        </p:spPr>
        <p:txBody>
          <a:bodyPr wrap="square" anchor="t"/>
          <a:lstStyle/>
          <a:p>
            <a:pPr algn="l"/>
            <a:r>
              <a:rPr lang="en-US" sz="2000" b="1" i="1" dirty="0">
                <a:solidFill>
                  <a:srgbClr val="000000"/>
                </a:solidFill>
                <a:latin typeface="Calibri" panose="020F0502020204030204" pitchFamily="34" charset="0"/>
                <a:ea typeface="Calibri" panose="020F0502020204030204" pitchFamily="34" charset="0"/>
                <a:cs typeface="Calibri" panose="020F0502020204030204" pitchFamily="34" charset="0"/>
              </a:rPr>
              <a:t>Day 4</a:t>
            </a:r>
          </a:p>
          <a:p>
            <a:pPr algn="l"/>
            <a:endParaRPr lang="en-US" sz="900" i="1" dirty="0">
              <a:latin typeface="Calibri" panose="020F0502020204030204" pitchFamily="34" charset="0"/>
              <a:ea typeface="Calibri" panose="020F0502020204030204" pitchFamily="34" charset="0"/>
              <a:cs typeface="Calibri" panose="020F0502020204030204" pitchFamily="34" charset="0"/>
            </a:endParaRPr>
          </a:p>
          <a:p>
            <a:pPr algn="l"/>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Compare and closeout</a:t>
            </a:r>
            <a:endParaRPr lang="en-US" sz="2000" dirty="0">
              <a:latin typeface="Calibri" panose="020F0502020204030204" pitchFamily="34" charset="0"/>
              <a:ea typeface="Calibri" panose="020F0502020204030204" pitchFamily="34" charset="0"/>
              <a:cs typeface="Calibri" panose="020F0502020204030204" pitchFamily="34" charset="0"/>
            </a:endParaRPr>
          </a:p>
          <a:p>
            <a:pPr algn="l"/>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Reconcile ownership evidence, retain findings, generate reports, and finalize the transaction stage.</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11"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Calibri" panose="020F0502020204030204" pitchFamily="34" charset="0"/>
                <a:ea typeface="Calibri" panose="020F0502020204030204" pitchFamily="34" charset="0"/>
                <a:cs typeface="Calibri" panose="020F0502020204030204" pitchFamily="34" charset="0"/>
              </a:rPr>
              <a:t>Training path</a:t>
            </a:r>
            <a:endParaRPr lang="en-US" sz="1200">
              <a:latin typeface="Calibri" panose="020F050202020403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CE8218A8-5952-0949-F4CD-8D0BEBC04C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The ArcGIS Pro syllabus is organized into five hands-on units</a:t>
            </a:r>
            <a:endParaRPr lang="en-US" sz="3800"/>
          </a:p>
        </p:txBody>
      </p:sp>
      <p:sp>
        <p:nvSpPr>
          <p:cNvPr id="3" name="Panel 1"/>
          <p:cNvSpPr/>
          <p:nvPr/>
        </p:nvSpPr>
        <p:spPr>
          <a:xfrm>
            <a:off x="514350" y="1638300"/>
            <a:ext cx="2095500" cy="4625340"/>
          </a:xfrm>
          <a:prstGeom prst="rect">
            <a:avLst/>
          </a:prstGeom>
          <a:solidFill>
            <a:srgbClr val="F4F4F4"/>
          </a:solidFill>
          <a:ln w="12700">
            <a:solidFill>
              <a:srgbClr val="B8BCC4"/>
            </a:solidFill>
          </a:ln>
        </p:spPr>
        <p:txBody>
          <a:bodyPr/>
          <a:lstStyle/>
          <a:p>
            <a:endParaRPr/>
          </a:p>
        </p:txBody>
      </p:sp>
      <p:sp>
        <p:nvSpPr>
          <p:cNvPr id="4" name="Panel 2"/>
          <p:cNvSpPr/>
          <p:nvPr/>
        </p:nvSpPr>
        <p:spPr>
          <a:xfrm>
            <a:off x="2876550" y="1638300"/>
            <a:ext cx="2095500" cy="4625340"/>
          </a:xfrm>
          <a:prstGeom prst="rect">
            <a:avLst/>
          </a:prstGeom>
          <a:solidFill>
            <a:srgbClr val="F4F4F4"/>
          </a:solidFill>
          <a:ln w="12700">
            <a:solidFill>
              <a:srgbClr val="B8BCC4"/>
            </a:solidFill>
          </a:ln>
        </p:spPr>
        <p:txBody>
          <a:bodyPr/>
          <a:lstStyle/>
          <a:p>
            <a:endParaRPr/>
          </a:p>
        </p:txBody>
      </p:sp>
      <p:sp>
        <p:nvSpPr>
          <p:cNvPr id="5" name="Panel 3"/>
          <p:cNvSpPr/>
          <p:nvPr/>
        </p:nvSpPr>
        <p:spPr>
          <a:xfrm>
            <a:off x="5238750" y="1638300"/>
            <a:ext cx="2095500" cy="4625340"/>
          </a:xfrm>
          <a:prstGeom prst="rect">
            <a:avLst/>
          </a:prstGeom>
          <a:solidFill>
            <a:srgbClr val="F4F4F4"/>
          </a:solidFill>
          <a:ln w="12700">
            <a:solidFill>
              <a:srgbClr val="B8BCC4"/>
            </a:solidFill>
          </a:ln>
        </p:spPr>
        <p:txBody>
          <a:bodyPr/>
          <a:lstStyle/>
          <a:p>
            <a:endParaRPr/>
          </a:p>
        </p:txBody>
      </p:sp>
      <p:sp>
        <p:nvSpPr>
          <p:cNvPr id="6" name="Panel 4"/>
          <p:cNvSpPr/>
          <p:nvPr/>
        </p:nvSpPr>
        <p:spPr>
          <a:xfrm>
            <a:off x="7600950" y="1638300"/>
            <a:ext cx="2095500" cy="4625340"/>
          </a:xfrm>
          <a:prstGeom prst="rect">
            <a:avLst/>
          </a:prstGeom>
          <a:solidFill>
            <a:srgbClr val="F4F4F4"/>
          </a:solidFill>
          <a:ln w="12700">
            <a:solidFill>
              <a:srgbClr val="B8BCC4"/>
            </a:solidFill>
          </a:ln>
        </p:spPr>
        <p:txBody>
          <a:bodyPr/>
          <a:lstStyle/>
          <a:p>
            <a:endParaRPr/>
          </a:p>
        </p:txBody>
      </p:sp>
      <p:sp>
        <p:nvSpPr>
          <p:cNvPr id="7" name="Panel 5"/>
          <p:cNvSpPr/>
          <p:nvPr/>
        </p:nvSpPr>
        <p:spPr>
          <a:xfrm>
            <a:off x="9963150" y="1638300"/>
            <a:ext cx="1714500" cy="4625340"/>
          </a:xfrm>
          <a:prstGeom prst="rect">
            <a:avLst/>
          </a:prstGeom>
          <a:solidFill>
            <a:srgbClr val="F4F4F4"/>
          </a:solidFill>
          <a:ln w="12700">
            <a:solidFill>
              <a:srgbClr val="B8BCC4"/>
            </a:solidFill>
          </a:ln>
        </p:spPr>
        <p:txBody>
          <a:bodyPr/>
          <a:lstStyle/>
          <a:p>
            <a:endParaRPr/>
          </a:p>
        </p:txBody>
      </p:sp>
      <p:sp>
        <p:nvSpPr>
          <p:cNvPr id="8" name="Panel 1 text"/>
          <p:cNvSpPr txBox="1"/>
          <p:nvPr/>
        </p:nvSpPr>
        <p:spPr>
          <a:xfrm>
            <a:off x="594360" y="1819656"/>
            <a:ext cx="1901190" cy="4315968"/>
          </a:xfrm>
          <a:prstGeom prst="rect">
            <a:avLst/>
          </a:prstGeom>
          <a:noFill/>
          <a:ln>
            <a:noFill/>
          </a:ln>
        </p:spPr>
        <p:txBody>
          <a:bodyPr wrap="square" anchor="t"/>
          <a:lstStyle/>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Unit 1</a:t>
            </a:r>
          </a:p>
          <a:p>
            <a:pPr algn="l"/>
            <a:endParaRPr lang="en-US" sz="900" dirty="0">
              <a:latin typeface="Calibri" panose="020F0502020204030204" pitchFamily="34" charset="0"/>
              <a:ea typeface="Calibri" panose="020F0502020204030204" pitchFamily="34" charset="0"/>
              <a:cs typeface="Calibri" panose="020F0502020204030204" pitchFamily="34" charset="0"/>
            </a:endParaRPr>
          </a:p>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Introduction to ArcGIS Pro</a:t>
            </a:r>
            <a:endParaRPr lang="en-US" sz="1800" dirty="0">
              <a:latin typeface="Calibri" panose="020F0502020204030204" pitchFamily="34" charset="0"/>
              <a:ea typeface="Calibri" panose="020F0502020204030204" pitchFamily="34" charset="0"/>
              <a:cs typeface="Calibri" panose="020F0502020204030204" pitchFamily="34" charset="0"/>
            </a:endParaRPr>
          </a:p>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Project creation, Catalog, Contents, data loading, navigation, measurements, selections, joins, labels, and symbology.</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9" name="Panel 2 text"/>
          <p:cNvSpPr txBox="1"/>
          <p:nvPr/>
        </p:nvSpPr>
        <p:spPr>
          <a:xfrm>
            <a:off x="2956560" y="1819656"/>
            <a:ext cx="1901190" cy="4315968"/>
          </a:xfrm>
          <a:prstGeom prst="rect">
            <a:avLst/>
          </a:prstGeom>
          <a:noFill/>
          <a:ln>
            <a:noFill/>
          </a:ln>
        </p:spPr>
        <p:txBody>
          <a:bodyPr wrap="square" anchor="t"/>
          <a:lstStyle/>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Unit 2</a:t>
            </a:r>
          </a:p>
          <a:p>
            <a:pPr algn="l"/>
            <a:endParaRPr lang="en-US" sz="900" dirty="0">
              <a:latin typeface="Calibri" panose="020F0502020204030204" pitchFamily="34" charset="0"/>
              <a:ea typeface="Calibri" panose="020F0502020204030204" pitchFamily="34" charset="0"/>
              <a:cs typeface="Calibri" panose="020F0502020204030204" pitchFamily="34" charset="0"/>
            </a:endParaRPr>
          </a:p>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Editing in ArcGIS Pro</a:t>
            </a:r>
            <a:endParaRPr lang="en-US" sz="1800" dirty="0">
              <a:latin typeface="Calibri" panose="020F0502020204030204" pitchFamily="34" charset="0"/>
              <a:ea typeface="Calibri" panose="020F0502020204030204" pitchFamily="34" charset="0"/>
              <a:cs typeface="Calibri" panose="020F0502020204030204" pitchFamily="34" charset="0"/>
            </a:endParaRPr>
          </a:p>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Edit tools, line work, attributes, polygons, traverse, copying, moving, and quality-aware edit habits.</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10" name="Panel 3 text"/>
          <p:cNvSpPr txBox="1"/>
          <p:nvPr/>
        </p:nvSpPr>
        <p:spPr>
          <a:xfrm>
            <a:off x="5318760" y="1819656"/>
            <a:ext cx="1901190" cy="4315968"/>
          </a:xfrm>
          <a:prstGeom prst="rect">
            <a:avLst/>
          </a:prstGeom>
          <a:noFill/>
          <a:ln>
            <a:noFill/>
          </a:ln>
        </p:spPr>
        <p:txBody>
          <a:bodyPr wrap="square" anchor="t"/>
          <a:lstStyle/>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Unit 3</a:t>
            </a:r>
          </a:p>
          <a:p>
            <a:pPr algn="l"/>
            <a:endParaRPr lang="en-US" sz="900" dirty="0">
              <a:latin typeface="Calibri" panose="020F0502020204030204" pitchFamily="34" charset="0"/>
              <a:ea typeface="Calibri" panose="020F0502020204030204" pitchFamily="34" charset="0"/>
              <a:cs typeface="Calibri" panose="020F0502020204030204" pitchFamily="34" charset="0"/>
            </a:endParaRPr>
          </a:p>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Layouts</a:t>
            </a:r>
            <a:endParaRPr lang="en-US" sz="1800" dirty="0">
              <a:latin typeface="Calibri" panose="020F0502020204030204" pitchFamily="34" charset="0"/>
              <a:ea typeface="Calibri" panose="020F0502020204030204" pitchFamily="34" charset="0"/>
              <a:cs typeface="Calibri" panose="020F0502020204030204" pitchFamily="34" charset="0"/>
            </a:endParaRPr>
          </a:p>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Map layouts, map frames, scale, north arrow, scale bar, images, map series, and export-ready outputs.</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11" name="Panel 4 text"/>
          <p:cNvSpPr txBox="1"/>
          <p:nvPr/>
        </p:nvSpPr>
        <p:spPr>
          <a:xfrm>
            <a:off x="7680960" y="1819656"/>
            <a:ext cx="1901190" cy="4315968"/>
          </a:xfrm>
          <a:prstGeom prst="rect">
            <a:avLst/>
          </a:prstGeom>
          <a:noFill/>
          <a:ln>
            <a:noFill/>
          </a:ln>
        </p:spPr>
        <p:txBody>
          <a:bodyPr wrap="square" anchor="t"/>
          <a:lstStyle/>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Unit 4</a:t>
            </a:r>
          </a:p>
          <a:p>
            <a:pPr algn="l"/>
            <a:endParaRPr lang="en-US" sz="900" dirty="0">
              <a:latin typeface="Calibri" panose="020F0502020204030204" pitchFamily="34" charset="0"/>
              <a:ea typeface="Calibri" panose="020F0502020204030204" pitchFamily="34" charset="0"/>
              <a:cs typeface="Calibri" panose="020F0502020204030204" pitchFamily="34" charset="0"/>
            </a:endParaRPr>
          </a:p>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Parcel Fabric</a:t>
            </a:r>
            <a:endParaRPr lang="en-US" sz="1800" dirty="0">
              <a:latin typeface="Calibri" panose="020F0502020204030204" pitchFamily="34" charset="0"/>
              <a:ea typeface="Calibri" panose="020F0502020204030204" pitchFamily="34" charset="0"/>
              <a:cs typeface="Calibri" panose="020F0502020204030204" pitchFamily="34" charset="0"/>
            </a:endParaRPr>
          </a:p>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Conceptual introduction to parcel fabric layers, records, topology, workflows, and branch versioning.</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12" name="Panel 5 text"/>
          <p:cNvSpPr txBox="1"/>
          <p:nvPr/>
        </p:nvSpPr>
        <p:spPr>
          <a:xfrm>
            <a:off x="10042304" y="1819656"/>
            <a:ext cx="1634160" cy="4315968"/>
          </a:xfrm>
          <a:prstGeom prst="rect">
            <a:avLst/>
          </a:prstGeom>
          <a:noFill/>
          <a:ln>
            <a:noFill/>
          </a:ln>
        </p:spPr>
        <p:txBody>
          <a:bodyPr wrap="square" anchor="t"/>
          <a:lstStyle/>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Unit 5</a:t>
            </a:r>
          </a:p>
          <a:p>
            <a:pPr algn="l"/>
            <a:endParaRPr lang="en-US" sz="900" dirty="0">
              <a:latin typeface="Calibri" panose="020F0502020204030204" pitchFamily="34" charset="0"/>
              <a:ea typeface="Calibri" panose="020F0502020204030204" pitchFamily="34" charset="0"/>
              <a:cs typeface="Calibri" panose="020F0502020204030204" pitchFamily="34" charset="0"/>
            </a:endParaRPr>
          </a:p>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Customizations and Tasks</a:t>
            </a:r>
            <a:endParaRPr lang="en-US" sz="1800" dirty="0">
              <a:latin typeface="Calibri" panose="020F0502020204030204" pitchFamily="34" charset="0"/>
              <a:ea typeface="Calibri" panose="020F0502020204030204" pitchFamily="34" charset="0"/>
              <a:cs typeface="Calibri" panose="020F0502020204030204" pitchFamily="34" charset="0"/>
            </a:endParaRPr>
          </a:p>
          <a:p>
            <a:pPr algn="l"/>
            <a:r>
              <a:rPr lang="en-US" sz="1800" b="1" dirty="0">
                <a:solidFill>
                  <a:srgbClr val="111111"/>
                </a:solidFill>
                <a:latin typeface="Calibri" panose="020F0502020204030204" pitchFamily="34" charset="0"/>
                <a:ea typeface="Calibri" panose="020F0502020204030204" pitchFamily="34" charset="0"/>
                <a:cs typeface="Calibri" panose="020F0502020204030204" pitchFamily="34" charset="0"/>
              </a:rPr>
              <a:t>Quick Access Toolbar, custom ribbons, task execution, and task design.</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13"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ArcGIS Pro foundation</a:t>
            </a:r>
            <a:endParaRPr lang="en-US" sz="1200"/>
          </a:p>
        </p:txBody>
      </p:sp>
      <p:pic>
        <p:nvPicPr>
          <p:cNvPr id="15" name="Picture 14">
            <a:extLst>
              <a:ext uri="{FF2B5EF4-FFF2-40B4-BE49-F238E27FC236}">
                <a16:creationId xmlns:a16="http://schemas.microsoft.com/office/drawing/2014/main" id="{934FA518-88A7-B5BD-5BA4-8D830C7E4C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Day 1 focuses on confidence in the ArcGIS Pro workspace</a:t>
            </a:r>
            <a:endParaRPr lang="en-US" sz="3800"/>
          </a:p>
        </p:txBody>
      </p:sp>
      <p:sp>
        <p:nvSpPr>
          <p:cNvPr id="3" name="Left"/>
          <p:cNvSpPr txBox="1"/>
          <p:nvPr/>
        </p:nvSpPr>
        <p:spPr>
          <a:xfrm>
            <a:off x="590550" y="2244791"/>
            <a:ext cx="4676394" cy="4442460"/>
          </a:xfrm>
          <a:prstGeom prst="rect">
            <a:avLst/>
          </a:prstGeom>
          <a:noFill/>
          <a:ln>
            <a:noFill/>
          </a:ln>
        </p:spPr>
        <p:txBody>
          <a:bodyPr wrap="square" anchor="t"/>
          <a:lstStyle/>
          <a:p>
            <a:pPr algn="l"/>
            <a:r>
              <a:rPr lang="en-US" sz="2100" dirty="0">
                <a:solidFill>
                  <a:srgbClr val="111111"/>
                </a:solidFill>
                <a:latin typeface="Arial"/>
              </a:rPr>
              <a:t>Core topics from Unit 1</a:t>
            </a:r>
          </a:p>
          <a:p>
            <a:pPr algn="l"/>
            <a:endParaRPr lang="en-US" sz="2100" dirty="0"/>
          </a:p>
          <a:p>
            <a:pPr algn="l"/>
            <a:r>
              <a:rPr lang="en-US" sz="2100" dirty="0">
                <a:solidFill>
                  <a:srgbClr val="111111"/>
                </a:solidFill>
                <a:latin typeface="Arial"/>
              </a:rPr>
              <a:t>- Create a new project and save it</a:t>
            </a:r>
            <a:endParaRPr lang="en-US" sz="2100" dirty="0"/>
          </a:p>
          <a:p>
            <a:pPr algn="l"/>
            <a:r>
              <a:rPr lang="en-US" sz="2100" dirty="0">
                <a:solidFill>
                  <a:srgbClr val="111111"/>
                </a:solidFill>
                <a:latin typeface="Arial"/>
              </a:rPr>
              <a:t>- Use Catalog, Contents, folders, favorites, and geodatabases</a:t>
            </a:r>
            <a:endParaRPr lang="en-US" sz="2100" dirty="0"/>
          </a:p>
          <a:p>
            <a:pPr algn="l"/>
            <a:r>
              <a:rPr lang="en-US" sz="2100" dirty="0">
                <a:solidFill>
                  <a:srgbClr val="111111"/>
                </a:solidFill>
                <a:latin typeface="Arial"/>
              </a:rPr>
              <a:t>- Add parish and parcel data to a map</a:t>
            </a:r>
            <a:endParaRPr lang="en-US" sz="2100" dirty="0"/>
          </a:p>
          <a:p>
            <a:pPr algn="l"/>
            <a:r>
              <a:rPr lang="en-US" sz="2100" dirty="0">
                <a:solidFill>
                  <a:srgbClr val="111111"/>
                </a:solidFill>
                <a:latin typeface="Arial"/>
              </a:rPr>
              <a:t>- Set definition queries and rename/reorder layers</a:t>
            </a:r>
            <a:endParaRPr lang="en-US" sz="2100" dirty="0"/>
          </a:p>
          <a:p>
            <a:pPr algn="l"/>
            <a:r>
              <a:rPr lang="en-US" sz="2100" dirty="0">
                <a:solidFill>
                  <a:srgbClr val="111111"/>
                </a:solidFill>
                <a:latin typeface="Arial"/>
              </a:rPr>
              <a:t>- Navigate, locate parcels, measure, select, join, label, and symbolize</a:t>
            </a:r>
            <a:endParaRPr lang="en-US" sz="2100" dirty="0"/>
          </a:p>
        </p:txBody>
      </p:sp>
      <p:sp>
        <p:nvSpPr>
          <p:cNvPr id="4" name="Right panel"/>
          <p:cNvSpPr/>
          <p:nvPr/>
        </p:nvSpPr>
        <p:spPr>
          <a:xfrm>
            <a:off x="5524500" y="2431018"/>
            <a:ext cx="5715000" cy="2896766"/>
          </a:xfrm>
          <a:prstGeom prst="rect">
            <a:avLst/>
          </a:prstGeom>
          <a:solidFill>
            <a:srgbClr val="F4F4F4"/>
          </a:solidFill>
          <a:ln w="12700">
            <a:solidFill>
              <a:srgbClr val="B8BCC4"/>
            </a:solidFill>
          </a:ln>
        </p:spPr>
        <p:txBody>
          <a:bodyPr/>
          <a:lstStyle/>
          <a:p>
            <a:endParaRPr/>
          </a:p>
        </p:txBody>
      </p:sp>
      <p:sp>
        <p:nvSpPr>
          <p:cNvPr id="5" name="Right"/>
          <p:cNvSpPr txBox="1"/>
          <p:nvPr/>
        </p:nvSpPr>
        <p:spPr>
          <a:xfrm>
            <a:off x="5905500" y="2649712"/>
            <a:ext cx="4953000" cy="2500791"/>
          </a:xfrm>
          <a:prstGeom prst="rect">
            <a:avLst/>
          </a:prstGeom>
          <a:noFill/>
          <a:ln>
            <a:noFill/>
          </a:ln>
        </p:spPr>
        <p:txBody>
          <a:bodyPr wrap="square" anchor="t"/>
          <a:lstStyle/>
          <a:p>
            <a:pPr algn="l"/>
            <a:r>
              <a:rPr lang="en-US" sz="2000" i="1" dirty="0">
                <a:solidFill>
                  <a:srgbClr val="111111"/>
                </a:solidFill>
                <a:latin typeface="Arial"/>
              </a:rPr>
              <a:t>Participant outcome</a:t>
            </a:r>
            <a:endParaRPr lang="en-US" sz="2000" i="1" dirty="0"/>
          </a:p>
          <a:p>
            <a:pPr algn="l"/>
            <a:r>
              <a:rPr lang="en-US" sz="2000" i="1" dirty="0">
                <a:solidFill>
                  <a:srgbClr val="111111"/>
                </a:solidFill>
                <a:latin typeface="Arial"/>
              </a:rPr>
              <a:t>By the end of the first block, participants should be comfortable opening ArcGIS Pro, managing project resources, reading parcel layers, and using the basic map, table, and selection tools needed for examination work.</a:t>
            </a:r>
            <a:endParaRPr lang="en-US" sz="2000" i="1" dirty="0"/>
          </a:p>
        </p:txBody>
      </p:sp>
      <p:sp>
        <p:nvSpPr>
          <p:cNvPr id="6"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Day 1</a:t>
            </a:r>
            <a:endParaRPr lang="en-US" sz="1200"/>
          </a:p>
        </p:txBody>
      </p:sp>
      <p:pic>
        <p:nvPicPr>
          <p:cNvPr id="8" name="Picture 7">
            <a:extLst>
              <a:ext uri="{FF2B5EF4-FFF2-40B4-BE49-F238E27FC236}">
                <a16:creationId xmlns:a16="http://schemas.microsoft.com/office/drawing/2014/main" id="{80F8581C-865F-82B8-D3E3-703F6B1B95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Day 2 turns Pro familiarity into parcel production habits</a:t>
            </a:r>
            <a:endParaRPr lang="en-US" sz="3800"/>
          </a:p>
        </p:txBody>
      </p:sp>
      <p:sp>
        <p:nvSpPr>
          <p:cNvPr id="3" name="One"/>
          <p:cNvSpPr/>
          <p:nvPr/>
        </p:nvSpPr>
        <p:spPr>
          <a:xfrm>
            <a:off x="647700" y="1714500"/>
            <a:ext cx="2381250" cy="4485132"/>
          </a:xfrm>
          <a:prstGeom prst="rect">
            <a:avLst/>
          </a:prstGeom>
          <a:solidFill>
            <a:srgbClr val="F4F4F4"/>
          </a:solidFill>
          <a:ln w="12700">
            <a:solidFill>
              <a:srgbClr val="B8BCC4"/>
            </a:solidFill>
          </a:ln>
        </p:spPr>
        <p:txBody>
          <a:bodyPr/>
          <a:lstStyle/>
          <a:p>
            <a:endParaRPr sz="1600">
              <a:latin typeface="Calibri" panose="020F0502020204030204" pitchFamily="34" charset="0"/>
              <a:ea typeface="Calibri" panose="020F0502020204030204" pitchFamily="34" charset="0"/>
              <a:cs typeface="Calibri" panose="020F0502020204030204" pitchFamily="34" charset="0"/>
            </a:endParaRPr>
          </a:p>
        </p:txBody>
      </p:sp>
      <p:sp>
        <p:nvSpPr>
          <p:cNvPr id="4" name="Two"/>
          <p:cNvSpPr/>
          <p:nvPr/>
        </p:nvSpPr>
        <p:spPr>
          <a:xfrm>
            <a:off x="3562350" y="1714500"/>
            <a:ext cx="2381250" cy="4485132"/>
          </a:xfrm>
          <a:prstGeom prst="rect">
            <a:avLst/>
          </a:prstGeom>
          <a:solidFill>
            <a:srgbClr val="F4F4F4"/>
          </a:solidFill>
          <a:ln w="12700">
            <a:solidFill>
              <a:srgbClr val="B8BCC4"/>
            </a:solidFill>
          </a:ln>
        </p:spPr>
        <p:txBody>
          <a:bodyPr/>
          <a:lstStyle/>
          <a:p>
            <a:endParaRPr sz="1600">
              <a:latin typeface="Calibri" panose="020F0502020204030204" pitchFamily="34" charset="0"/>
              <a:ea typeface="Calibri" panose="020F0502020204030204" pitchFamily="34" charset="0"/>
              <a:cs typeface="Calibri" panose="020F0502020204030204" pitchFamily="34" charset="0"/>
            </a:endParaRPr>
          </a:p>
        </p:txBody>
      </p:sp>
      <p:sp>
        <p:nvSpPr>
          <p:cNvPr id="5" name="Three"/>
          <p:cNvSpPr/>
          <p:nvPr/>
        </p:nvSpPr>
        <p:spPr>
          <a:xfrm>
            <a:off x="6477000" y="1714500"/>
            <a:ext cx="2381250" cy="4485132"/>
          </a:xfrm>
          <a:prstGeom prst="rect">
            <a:avLst/>
          </a:prstGeom>
          <a:solidFill>
            <a:srgbClr val="F4F4F4"/>
          </a:solidFill>
          <a:ln w="12700">
            <a:solidFill>
              <a:srgbClr val="B8BCC4"/>
            </a:solidFill>
          </a:ln>
        </p:spPr>
        <p:txBody>
          <a:bodyPr/>
          <a:lstStyle/>
          <a:p>
            <a:endParaRPr sz="1600">
              <a:latin typeface="Calibri" panose="020F0502020204030204" pitchFamily="34" charset="0"/>
              <a:ea typeface="Calibri" panose="020F0502020204030204" pitchFamily="34" charset="0"/>
              <a:cs typeface="Calibri" panose="020F0502020204030204" pitchFamily="34" charset="0"/>
            </a:endParaRPr>
          </a:p>
        </p:txBody>
      </p:sp>
      <p:sp>
        <p:nvSpPr>
          <p:cNvPr id="6" name="Four"/>
          <p:cNvSpPr/>
          <p:nvPr/>
        </p:nvSpPr>
        <p:spPr>
          <a:xfrm>
            <a:off x="9391650" y="1714500"/>
            <a:ext cx="2285238" cy="4485132"/>
          </a:xfrm>
          <a:prstGeom prst="rect">
            <a:avLst/>
          </a:prstGeom>
          <a:solidFill>
            <a:srgbClr val="F4F4F4"/>
          </a:solidFill>
          <a:ln w="12700">
            <a:solidFill>
              <a:srgbClr val="B8BCC4"/>
            </a:solidFill>
          </a:ln>
        </p:spPr>
        <p:txBody>
          <a:bodyPr/>
          <a:lstStyle/>
          <a:p>
            <a:endParaRPr sz="1600">
              <a:latin typeface="Calibri" panose="020F0502020204030204" pitchFamily="34" charset="0"/>
              <a:ea typeface="Calibri" panose="020F0502020204030204" pitchFamily="34" charset="0"/>
              <a:cs typeface="Calibri" panose="020F0502020204030204" pitchFamily="34" charset="0"/>
            </a:endParaRPr>
          </a:p>
        </p:txBody>
      </p:sp>
      <p:sp>
        <p:nvSpPr>
          <p:cNvPr id="7" name="One text"/>
          <p:cNvSpPr txBox="1"/>
          <p:nvPr/>
        </p:nvSpPr>
        <p:spPr>
          <a:xfrm>
            <a:off x="704850" y="1911096"/>
            <a:ext cx="2184654" cy="4142232"/>
          </a:xfrm>
          <a:prstGeom prst="rect">
            <a:avLst/>
          </a:prstGeom>
          <a:noFill/>
          <a:ln>
            <a:noFill/>
          </a:ln>
        </p:spPr>
        <p:txBody>
          <a:bodyPr wrap="square" anchor="t"/>
          <a:lstStyle/>
          <a:p>
            <a:pPr algn="l"/>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Edit</a:t>
            </a:r>
            <a:endParaRPr lang="en-US" sz="2200" dirty="0">
              <a:latin typeface="Calibri" panose="020F0502020204030204" pitchFamily="34" charset="0"/>
              <a:ea typeface="Calibri" panose="020F0502020204030204" pitchFamily="34" charset="0"/>
              <a:cs typeface="Calibri" panose="020F0502020204030204" pitchFamily="34" charset="0"/>
            </a:endParaRPr>
          </a:p>
          <a:p>
            <a:pPr algn="l"/>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Use </a:t>
            </a:r>
            <a:r>
              <a:rPr lang="en-US" sz="2200" u="sng" dirty="0">
                <a:solidFill>
                  <a:srgbClr val="000000"/>
                </a:solidFill>
                <a:latin typeface="Calibri" panose="020F0502020204030204" pitchFamily="34" charset="0"/>
                <a:ea typeface="Calibri" panose="020F0502020204030204" pitchFamily="34" charset="0"/>
                <a:cs typeface="Calibri" panose="020F0502020204030204" pitchFamily="34" charset="0"/>
              </a:rPr>
              <a:t>Unit 2</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 to practice lines, attributes, polygons, traverse, copy, move, and mirror-style edit thinking.</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8" name="Two text"/>
          <p:cNvSpPr txBox="1"/>
          <p:nvPr/>
        </p:nvSpPr>
        <p:spPr>
          <a:xfrm>
            <a:off x="3619500" y="1911096"/>
            <a:ext cx="2184654" cy="4142232"/>
          </a:xfrm>
          <a:prstGeom prst="rect">
            <a:avLst/>
          </a:prstGeom>
          <a:noFill/>
          <a:ln>
            <a:noFill/>
          </a:ln>
        </p:spPr>
        <p:txBody>
          <a:bodyPr wrap="square" anchor="t"/>
          <a:lstStyle/>
          <a:p>
            <a:pPr algn="l"/>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Layout</a:t>
            </a:r>
            <a:endParaRPr lang="en-US" sz="2200" dirty="0">
              <a:latin typeface="Calibri" panose="020F0502020204030204" pitchFamily="34" charset="0"/>
              <a:ea typeface="Calibri" panose="020F0502020204030204" pitchFamily="34" charset="0"/>
              <a:cs typeface="Calibri" panose="020F0502020204030204" pitchFamily="34" charset="0"/>
            </a:endParaRPr>
          </a:p>
          <a:p>
            <a:pPr algn="l"/>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Use </a:t>
            </a:r>
            <a:r>
              <a:rPr lang="en-US" sz="2200" u="sng" dirty="0">
                <a:solidFill>
                  <a:srgbClr val="000000"/>
                </a:solidFill>
                <a:latin typeface="Calibri" panose="020F0502020204030204" pitchFamily="34" charset="0"/>
                <a:ea typeface="Calibri" panose="020F0502020204030204" pitchFamily="34" charset="0"/>
                <a:cs typeface="Calibri" panose="020F0502020204030204" pitchFamily="34" charset="0"/>
              </a:rPr>
              <a:t>Unit 3</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 to prepare layouts, map frames, scale bars, north arrows, images, map series, and exports.</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9" name="Three text"/>
          <p:cNvSpPr txBox="1"/>
          <p:nvPr/>
        </p:nvSpPr>
        <p:spPr>
          <a:xfrm>
            <a:off x="6534150" y="1911096"/>
            <a:ext cx="2184654" cy="4142232"/>
          </a:xfrm>
          <a:prstGeom prst="rect">
            <a:avLst/>
          </a:prstGeom>
          <a:noFill/>
          <a:ln>
            <a:noFill/>
          </a:ln>
        </p:spPr>
        <p:txBody>
          <a:bodyPr wrap="square" anchor="t"/>
          <a:lstStyle/>
          <a:p>
            <a:pPr algn="l"/>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Parcel fabric</a:t>
            </a:r>
            <a:endParaRPr lang="en-US" sz="2200" dirty="0">
              <a:latin typeface="Calibri" panose="020F0502020204030204" pitchFamily="34" charset="0"/>
              <a:ea typeface="Calibri" panose="020F0502020204030204" pitchFamily="34" charset="0"/>
              <a:cs typeface="Calibri" panose="020F0502020204030204" pitchFamily="34" charset="0"/>
            </a:endParaRPr>
          </a:p>
          <a:p>
            <a:pPr algn="l"/>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Use </a:t>
            </a:r>
            <a:r>
              <a:rPr lang="en-US" sz="2200" u="sng" dirty="0">
                <a:solidFill>
                  <a:srgbClr val="000000"/>
                </a:solidFill>
                <a:latin typeface="Calibri" panose="020F0502020204030204" pitchFamily="34" charset="0"/>
                <a:ea typeface="Calibri" panose="020F0502020204030204" pitchFamily="34" charset="0"/>
                <a:cs typeface="Calibri" panose="020F0502020204030204" pitchFamily="34" charset="0"/>
              </a:rPr>
              <a:t>Unit 4</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 to introduce parcel fabric concepts, records, topology, workflows, and branch versioning.</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0" name="Four text"/>
          <p:cNvSpPr txBox="1"/>
          <p:nvPr/>
        </p:nvSpPr>
        <p:spPr>
          <a:xfrm>
            <a:off x="9477374" y="1911096"/>
            <a:ext cx="2066925" cy="4142232"/>
          </a:xfrm>
          <a:prstGeom prst="rect">
            <a:avLst/>
          </a:prstGeom>
          <a:noFill/>
          <a:ln>
            <a:noFill/>
          </a:ln>
        </p:spPr>
        <p:txBody>
          <a:bodyPr wrap="square" anchor="t"/>
          <a:lstStyle/>
          <a:p>
            <a:pPr algn="l"/>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Tasks</a:t>
            </a:r>
            <a:endParaRPr lang="en-US" sz="2200" dirty="0">
              <a:latin typeface="Calibri" panose="020F0502020204030204" pitchFamily="34" charset="0"/>
              <a:ea typeface="Calibri" panose="020F0502020204030204" pitchFamily="34" charset="0"/>
              <a:cs typeface="Calibri" panose="020F0502020204030204" pitchFamily="34" charset="0"/>
            </a:endParaRPr>
          </a:p>
          <a:p>
            <a:pPr algn="l"/>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Use </a:t>
            </a:r>
            <a:r>
              <a:rPr lang="en-US" sz="2200" u="sng" dirty="0">
                <a:solidFill>
                  <a:srgbClr val="000000"/>
                </a:solidFill>
                <a:latin typeface="Calibri" panose="020F0502020204030204" pitchFamily="34" charset="0"/>
                <a:ea typeface="Calibri" panose="020F0502020204030204" pitchFamily="34" charset="0"/>
                <a:cs typeface="Calibri" panose="020F0502020204030204" pitchFamily="34" charset="0"/>
              </a:rPr>
              <a:t>Unit 5 </a:t>
            </a: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to connect Pro customization and Tasks to guided examination work.</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1"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Day 2</a:t>
            </a:r>
            <a:endParaRPr lang="en-US" sz="1200"/>
          </a:p>
        </p:txBody>
      </p:sp>
      <p:pic>
        <p:nvPicPr>
          <p:cNvPr id="13" name="Picture 12">
            <a:extLst>
              <a:ext uri="{FF2B5EF4-FFF2-40B4-BE49-F238E27FC236}">
                <a16:creationId xmlns:a16="http://schemas.microsoft.com/office/drawing/2014/main" id="{83E5704B-D959-FF92-AF17-B3B091436A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Days 3 and 4 apply Pro skills to the Plan Examination transaction</a:t>
            </a:r>
            <a:endParaRPr lang="en-US" sz="3800"/>
          </a:p>
        </p:txBody>
      </p:sp>
      <p:cxnSp>
        <p:nvCxnSpPr>
          <p:cNvPr id="3" name="Workflow line"/>
          <p:cNvCxnSpPr/>
          <p:nvPr/>
        </p:nvCxnSpPr>
        <p:spPr>
          <a:xfrm>
            <a:off x="896112" y="3392424"/>
            <a:ext cx="9906000" cy="0"/>
          </a:xfrm>
          <a:prstGeom prst="line">
            <a:avLst/>
          </a:prstGeom>
          <a:ln w="25400">
            <a:solidFill>
              <a:srgbClr val="B8BCC4"/>
            </a:solidFill>
          </a:ln>
        </p:spPr>
      </p:cxnSp>
      <p:sp>
        <p:nvSpPr>
          <p:cNvPr id="4" name="Step 1"/>
          <p:cNvSpPr/>
          <p:nvPr/>
        </p:nvSpPr>
        <p:spPr>
          <a:xfrm>
            <a:off x="857250" y="2018538"/>
            <a:ext cx="2000250" cy="2743962"/>
          </a:xfrm>
          <a:prstGeom prst="rect">
            <a:avLst/>
          </a:prstGeom>
          <a:solidFill>
            <a:srgbClr val="FFF2EA"/>
          </a:solidFill>
          <a:ln w="12700">
            <a:solidFill>
              <a:srgbClr val="FF6B35"/>
            </a:solidFill>
          </a:ln>
        </p:spPr>
        <p:txBody>
          <a:bodyPr/>
          <a:lstStyle/>
          <a:p>
            <a:endParaRPr/>
          </a:p>
        </p:txBody>
      </p:sp>
      <p:sp>
        <p:nvSpPr>
          <p:cNvPr id="5" name="Step 2"/>
          <p:cNvSpPr/>
          <p:nvPr/>
        </p:nvSpPr>
        <p:spPr>
          <a:xfrm>
            <a:off x="3333750" y="2018538"/>
            <a:ext cx="2000250" cy="2743962"/>
          </a:xfrm>
          <a:prstGeom prst="rect">
            <a:avLst/>
          </a:prstGeom>
          <a:solidFill>
            <a:srgbClr val="FFF2EA"/>
          </a:solidFill>
          <a:ln w="12700">
            <a:solidFill>
              <a:srgbClr val="FF6B35"/>
            </a:solidFill>
          </a:ln>
        </p:spPr>
        <p:txBody>
          <a:bodyPr/>
          <a:lstStyle/>
          <a:p>
            <a:endParaRPr/>
          </a:p>
        </p:txBody>
      </p:sp>
      <p:sp>
        <p:nvSpPr>
          <p:cNvPr id="6" name="Step 3"/>
          <p:cNvSpPr/>
          <p:nvPr/>
        </p:nvSpPr>
        <p:spPr>
          <a:xfrm>
            <a:off x="5810250" y="2018538"/>
            <a:ext cx="2000250" cy="2743962"/>
          </a:xfrm>
          <a:prstGeom prst="rect">
            <a:avLst/>
          </a:prstGeom>
          <a:solidFill>
            <a:srgbClr val="FFF2EA"/>
          </a:solidFill>
          <a:ln w="12700">
            <a:solidFill>
              <a:srgbClr val="FF6B35"/>
            </a:solidFill>
          </a:ln>
        </p:spPr>
        <p:txBody>
          <a:bodyPr/>
          <a:lstStyle/>
          <a:p>
            <a:endParaRPr/>
          </a:p>
        </p:txBody>
      </p:sp>
      <p:sp>
        <p:nvSpPr>
          <p:cNvPr id="7" name="Step 4"/>
          <p:cNvSpPr/>
          <p:nvPr/>
        </p:nvSpPr>
        <p:spPr>
          <a:xfrm>
            <a:off x="8286750" y="2018538"/>
            <a:ext cx="2476500" cy="2743962"/>
          </a:xfrm>
          <a:prstGeom prst="rect">
            <a:avLst/>
          </a:prstGeom>
          <a:solidFill>
            <a:srgbClr val="FFF2EA"/>
          </a:solidFill>
          <a:ln w="12700">
            <a:solidFill>
              <a:srgbClr val="FF6B35"/>
            </a:solidFill>
          </a:ln>
        </p:spPr>
        <p:txBody>
          <a:bodyPr/>
          <a:lstStyle/>
          <a:p>
            <a:endParaRPr/>
          </a:p>
        </p:txBody>
      </p:sp>
      <p:sp>
        <p:nvSpPr>
          <p:cNvPr id="8" name="Step 1 text"/>
          <p:cNvSpPr txBox="1"/>
          <p:nvPr/>
        </p:nvSpPr>
        <p:spPr>
          <a:xfrm>
            <a:off x="1066800" y="2332862"/>
            <a:ext cx="1571625" cy="2239137"/>
          </a:xfrm>
          <a:prstGeom prst="rect">
            <a:avLst/>
          </a:prstGeom>
          <a:noFill/>
          <a:ln>
            <a:noFill/>
          </a:ln>
        </p:spPr>
        <p:txBody>
          <a:bodyPr wrap="square" anchor="t"/>
          <a:lstStyle/>
          <a:p>
            <a:pPr algn="l"/>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Load transaction</a:t>
            </a:r>
            <a:endParaRPr lang="en-US" sz="2000" dirty="0">
              <a:latin typeface="Calibri" panose="020F0502020204030204" pitchFamily="34" charset="0"/>
              <a:ea typeface="Calibri" panose="020F0502020204030204" pitchFamily="34" charset="0"/>
              <a:cs typeface="Calibri" panose="020F0502020204030204" pitchFamily="34" charset="0"/>
            </a:endParaRPr>
          </a:p>
          <a:p>
            <a:pPr algn="l"/>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Open the PE task and attached documents.</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9" name="Step 2 text"/>
          <p:cNvSpPr txBox="1"/>
          <p:nvPr/>
        </p:nvSpPr>
        <p:spPr>
          <a:xfrm>
            <a:off x="3543300" y="2332862"/>
            <a:ext cx="1571625" cy="2239137"/>
          </a:xfrm>
          <a:prstGeom prst="rect">
            <a:avLst/>
          </a:prstGeom>
          <a:noFill/>
          <a:ln>
            <a:noFill/>
          </a:ln>
        </p:spPr>
        <p:txBody>
          <a:bodyPr wrap="square" anchor="t"/>
          <a:lstStyle/>
          <a:p>
            <a:pPr algn="l"/>
            <a:r>
              <a:rPr lang="en-US" sz="2000" b="1">
                <a:solidFill>
                  <a:srgbClr val="000000"/>
                </a:solidFill>
                <a:latin typeface="Calibri" panose="020F0502020204030204" pitchFamily="34" charset="0"/>
                <a:ea typeface="Calibri" panose="020F0502020204030204" pitchFamily="34" charset="0"/>
                <a:cs typeface="Calibri" panose="020F0502020204030204" pitchFamily="34" charset="0"/>
              </a:rPr>
              <a:t>Compute</a:t>
            </a:r>
            <a:endParaRPr lang="en-US" sz="2000">
              <a:latin typeface="Calibri" panose="020F0502020204030204" pitchFamily="34" charset="0"/>
              <a:ea typeface="Calibri" panose="020F0502020204030204" pitchFamily="34" charset="0"/>
              <a:cs typeface="Calibri" panose="020F0502020204030204" pitchFamily="34" charset="0"/>
            </a:endParaRPr>
          </a:p>
          <a:p>
            <a:pPr algn="l"/>
            <a:r>
              <a:rPr lang="en-US" sz="2000" b="1">
                <a:solidFill>
                  <a:srgbClr val="000000"/>
                </a:solidFill>
                <a:latin typeface="Calibri" panose="020F0502020204030204" pitchFamily="34" charset="0"/>
                <a:ea typeface="Calibri" panose="020F0502020204030204" pitchFamily="34" charset="0"/>
                <a:cs typeface="Calibri" panose="020F0502020204030204" pitchFamily="34" charset="0"/>
              </a:rPr>
              <a:t>Validate source evidence and spatial geometry.</a:t>
            </a:r>
            <a:endParaRPr lang="en-US" sz="2000">
              <a:latin typeface="Calibri" panose="020F0502020204030204" pitchFamily="34" charset="0"/>
              <a:ea typeface="Calibri" panose="020F0502020204030204" pitchFamily="34" charset="0"/>
              <a:cs typeface="Calibri" panose="020F0502020204030204" pitchFamily="34" charset="0"/>
            </a:endParaRPr>
          </a:p>
        </p:txBody>
      </p:sp>
      <p:sp>
        <p:nvSpPr>
          <p:cNvPr id="10" name="Step 3 text"/>
          <p:cNvSpPr txBox="1"/>
          <p:nvPr/>
        </p:nvSpPr>
        <p:spPr>
          <a:xfrm>
            <a:off x="6019800" y="2332862"/>
            <a:ext cx="1571625" cy="2239137"/>
          </a:xfrm>
          <a:prstGeom prst="rect">
            <a:avLst/>
          </a:prstGeom>
          <a:noFill/>
          <a:ln>
            <a:noFill/>
          </a:ln>
        </p:spPr>
        <p:txBody>
          <a:bodyPr wrap="square" anchor="t"/>
          <a:lstStyle/>
          <a:p>
            <a:pPr algn="l"/>
            <a:r>
              <a:rPr lang="en-US" sz="2000" b="1">
                <a:solidFill>
                  <a:srgbClr val="000000"/>
                </a:solidFill>
                <a:latin typeface="Calibri" panose="020F0502020204030204" pitchFamily="34" charset="0"/>
                <a:ea typeface="Calibri" panose="020F0502020204030204" pitchFamily="34" charset="0"/>
                <a:cs typeface="Calibri" panose="020F0502020204030204" pitchFamily="34" charset="0"/>
              </a:rPr>
              <a:t>Compare</a:t>
            </a:r>
            <a:endParaRPr lang="en-US" sz="2000">
              <a:latin typeface="Calibri" panose="020F0502020204030204" pitchFamily="34" charset="0"/>
              <a:ea typeface="Calibri" panose="020F0502020204030204" pitchFamily="34" charset="0"/>
              <a:cs typeface="Calibri" panose="020F0502020204030204" pitchFamily="34" charset="0"/>
            </a:endParaRPr>
          </a:p>
          <a:p>
            <a:pPr algn="l"/>
            <a:r>
              <a:rPr lang="en-US" sz="2000" b="1">
                <a:solidFill>
                  <a:srgbClr val="000000"/>
                </a:solidFill>
                <a:latin typeface="Calibri" panose="020F0502020204030204" pitchFamily="34" charset="0"/>
                <a:ea typeface="Calibri" panose="020F0502020204030204" pitchFamily="34" charset="0"/>
                <a:cs typeface="Calibri" panose="020F0502020204030204" pitchFamily="34" charset="0"/>
              </a:rPr>
              <a:t>Reconcile ownership and cadastre evidence.</a:t>
            </a:r>
            <a:endParaRPr lang="en-US" sz="2000">
              <a:latin typeface="Calibri" panose="020F0502020204030204" pitchFamily="34" charset="0"/>
              <a:ea typeface="Calibri" panose="020F0502020204030204" pitchFamily="34" charset="0"/>
              <a:cs typeface="Calibri" panose="020F0502020204030204" pitchFamily="34" charset="0"/>
            </a:endParaRPr>
          </a:p>
        </p:txBody>
      </p:sp>
      <p:sp>
        <p:nvSpPr>
          <p:cNvPr id="11" name="Step 4 text"/>
          <p:cNvSpPr txBox="1"/>
          <p:nvPr/>
        </p:nvSpPr>
        <p:spPr>
          <a:xfrm>
            <a:off x="8524875" y="2332862"/>
            <a:ext cx="2047875" cy="2239137"/>
          </a:xfrm>
          <a:prstGeom prst="rect">
            <a:avLst/>
          </a:prstGeom>
          <a:noFill/>
          <a:ln>
            <a:noFill/>
          </a:ln>
        </p:spPr>
        <p:txBody>
          <a:bodyPr wrap="square" anchor="t"/>
          <a:lstStyle/>
          <a:p>
            <a:pPr algn="l"/>
            <a:r>
              <a:rPr lang="en-US" sz="2000" b="1">
                <a:solidFill>
                  <a:srgbClr val="000000"/>
                </a:solidFill>
                <a:latin typeface="Calibri" panose="020F0502020204030204" pitchFamily="34" charset="0"/>
                <a:ea typeface="Calibri" panose="020F0502020204030204" pitchFamily="34" charset="0"/>
                <a:cs typeface="Calibri" panose="020F0502020204030204" pitchFamily="34" charset="0"/>
              </a:rPr>
              <a:t>Finalize</a:t>
            </a:r>
            <a:endParaRPr lang="en-US" sz="2000">
              <a:latin typeface="Calibri" panose="020F0502020204030204" pitchFamily="34" charset="0"/>
              <a:ea typeface="Calibri" panose="020F0502020204030204" pitchFamily="34" charset="0"/>
              <a:cs typeface="Calibri" panose="020F0502020204030204" pitchFamily="34" charset="0"/>
            </a:endParaRPr>
          </a:p>
          <a:p>
            <a:pPr algn="l"/>
            <a:r>
              <a:rPr lang="en-US" sz="2000" b="1">
                <a:solidFill>
                  <a:srgbClr val="000000"/>
                </a:solidFill>
                <a:latin typeface="Calibri" panose="020F0502020204030204" pitchFamily="34" charset="0"/>
                <a:ea typeface="Calibri" panose="020F0502020204030204" pitchFamily="34" charset="0"/>
                <a:cs typeface="Calibri" panose="020F0502020204030204" pitchFamily="34" charset="0"/>
              </a:rPr>
              <a:t>Generate reports and move to the next stage.</a:t>
            </a:r>
            <a:endParaRPr lang="en-US" sz="2000">
              <a:latin typeface="Calibri" panose="020F0502020204030204" pitchFamily="34" charset="0"/>
              <a:ea typeface="Calibri" panose="020F0502020204030204" pitchFamily="34" charset="0"/>
              <a:cs typeface="Calibri" panose="020F0502020204030204" pitchFamily="34" charset="0"/>
            </a:endParaRPr>
          </a:p>
        </p:txBody>
      </p:sp>
      <p:sp>
        <p:nvSpPr>
          <p:cNvPr id="12" name="Bottom"/>
          <p:cNvSpPr txBox="1"/>
          <p:nvPr/>
        </p:nvSpPr>
        <p:spPr>
          <a:xfrm>
            <a:off x="745998" y="5283706"/>
            <a:ext cx="9334500" cy="522731"/>
          </a:xfrm>
          <a:prstGeom prst="rect">
            <a:avLst/>
          </a:prstGeom>
          <a:noFill/>
          <a:ln>
            <a:noFill/>
          </a:ln>
        </p:spPr>
        <p:txBody>
          <a:bodyPr wrap="square" anchor="t"/>
          <a:lstStyle/>
          <a:p>
            <a:pPr algn="l"/>
            <a:r>
              <a:rPr lang="en-US" sz="1600" i="1" dirty="0">
                <a:solidFill>
                  <a:srgbClr val="333333"/>
                </a:solidFill>
                <a:latin typeface="Arial"/>
              </a:rPr>
              <a:t>The Plan Examination training is scenario-led: participants follow a transaction through the same decision points they will use after go-live.</a:t>
            </a:r>
            <a:endParaRPr lang="en-US" sz="1600" i="1" dirty="0"/>
          </a:p>
        </p:txBody>
      </p:sp>
      <p:sp>
        <p:nvSpPr>
          <p:cNvPr id="13"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Plan Examination workflow</a:t>
            </a:r>
            <a:endParaRPr lang="en-US" sz="1200"/>
          </a:p>
        </p:txBody>
      </p:sp>
      <p:pic>
        <p:nvPicPr>
          <p:cNvPr id="15" name="Picture 14">
            <a:extLst>
              <a:ext uri="{FF2B5EF4-FFF2-40B4-BE49-F238E27FC236}">
                <a16:creationId xmlns:a16="http://schemas.microsoft.com/office/drawing/2014/main" id="{99068099-EDB9-1BF0-7096-C0E5733DE1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dirty="0">
                <a:solidFill>
                  <a:srgbClr val="111111"/>
                </a:solidFill>
                <a:latin typeface="Arial"/>
              </a:rPr>
              <a:t>Day 3 reviews the Compute stage as evidence preparation</a:t>
            </a:r>
            <a:endParaRPr lang="en-US" sz="3800" dirty="0"/>
          </a:p>
        </p:txBody>
      </p:sp>
      <p:sp>
        <p:nvSpPr>
          <p:cNvPr id="3" name="Left copy"/>
          <p:cNvSpPr txBox="1"/>
          <p:nvPr/>
        </p:nvSpPr>
        <p:spPr>
          <a:xfrm>
            <a:off x="590550" y="1619249"/>
            <a:ext cx="4476750" cy="4529623"/>
          </a:xfrm>
          <a:prstGeom prst="rect">
            <a:avLst/>
          </a:prstGeom>
          <a:noFill/>
          <a:ln>
            <a:noFill/>
          </a:ln>
        </p:spPr>
        <p:txBody>
          <a:bodyPr wrap="square" anchor="t"/>
          <a:lstStyle/>
          <a:p>
            <a:pPr algn="l"/>
            <a:r>
              <a:rPr lang="en-US" sz="2200" dirty="0">
                <a:solidFill>
                  <a:srgbClr val="111111"/>
                </a:solidFill>
                <a:latin typeface="Arial"/>
              </a:rPr>
              <a:t>What participants practice</a:t>
            </a:r>
            <a:endParaRPr lang="en-US" sz="2200" dirty="0"/>
          </a:p>
          <a:p>
            <a:pPr algn="l"/>
            <a:r>
              <a:rPr lang="en-US" sz="2200" dirty="0">
                <a:solidFill>
                  <a:srgbClr val="111111"/>
                </a:solidFill>
                <a:latin typeface="Arial"/>
              </a:rPr>
              <a:t>- Select and open a Plan Examination transaction</a:t>
            </a:r>
            <a:endParaRPr lang="en-US" sz="2200" dirty="0"/>
          </a:p>
          <a:p>
            <a:pPr algn="l"/>
            <a:r>
              <a:rPr lang="en-US" sz="2200" dirty="0">
                <a:solidFill>
                  <a:srgbClr val="111111"/>
                </a:solidFill>
                <a:latin typeface="Arial"/>
              </a:rPr>
              <a:t>- Review attached survey plan documents</a:t>
            </a:r>
            <a:endParaRPr lang="en-US" sz="2200" dirty="0"/>
          </a:p>
          <a:p>
            <a:pPr algn="l"/>
            <a:r>
              <a:rPr lang="en-US" sz="2200" dirty="0">
                <a:solidFill>
                  <a:srgbClr val="111111"/>
                </a:solidFill>
                <a:latin typeface="Arial"/>
              </a:rPr>
              <a:t>- Understand supporting document, structure, </a:t>
            </a:r>
            <a:r>
              <a:rPr lang="en-US" sz="2200" dirty="0" err="1">
                <a:solidFill>
                  <a:srgbClr val="111111"/>
                </a:solidFill>
                <a:latin typeface="Arial"/>
              </a:rPr>
              <a:t>georeference</a:t>
            </a:r>
            <a:r>
              <a:rPr lang="en-US" sz="2200" dirty="0">
                <a:solidFill>
                  <a:srgbClr val="111111"/>
                </a:solidFill>
                <a:latin typeface="Arial"/>
              </a:rPr>
              <a:t>, and dimension checks</a:t>
            </a:r>
            <a:endParaRPr lang="en-US" sz="2200" dirty="0"/>
          </a:p>
          <a:p>
            <a:pPr algn="l"/>
            <a:r>
              <a:rPr lang="en-US" sz="2200" dirty="0">
                <a:solidFill>
                  <a:srgbClr val="111111"/>
                </a:solidFill>
                <a:latin typeface="Arial"/>
              </a:rPr>
              <a:t>- Validate extracted points and lines</a:t>
            </a:r>
            <a:endParaRPr lang="en-US" sz="2200" dirty="0"/>
          </a:p>
          <a:p>
            <a:pPr algn="l"/>
            <a:r>
              <a:rPr lang="en-US" sz="2200" dirty="0">
                <a:solidFill>
                  <a:srgbClr val="111111"/>
                </a:solidFill>
                <a:latin typeface="Arial"/>
              </a:rPr>
              <a:t>- Create spatial units and review generated outputs</a:t>
            </a:r>
            <a:endParaRPr lang="en-US" sz="2200" dirty="0"/>
          </a:p>
        </p:txBody>
      </p:sp>
      <p:sp>
        <p:nvSpPr>
          <p:cNvPr id="4" name="Right panel"/>
          <p:cNvSpPr/>
          <p:nvPr/>
        </p:nvSpPr>
        <p:spPr>
          <a:xfrm>
            <a:off x="5905500" y="1600200"/>
            <a:ext cx="5143500" cy="4743450"/>
          </a:xfrm>
          <a:prstGeom prst="rect">
            <a:avLst/>
          </a:prstGeom>
          <a:solidFill>
            <a:srgbClr val="F4F4F4"/>
          </a:solidFill>
          <a:ln w="12700">
            <a:solidFill>
              <a:srgbClr val="B8BCC4"/>
            </a:solidFill>
          </a:ln>
        </p:spPr>
        <p:txBody>
          <a:bodyPr/>
          <a:lstStyle/>
          <a:p>
            <a:endParaRPr/>
          </a:p>
        </p:txBody>
      </p:sp>
      <p:sp>
        <p:nvSpPr>
          <p:cNvPr id="5" name="Right copy"/>
          <p:cNvSpPr txBox="1"/>
          <p:nvPr/>
        </p:nvSpPr>
        <p:spPr>
          <a:xfrm>
            <a:off x="6211855" y="2381639"/>
            <a:ext cx="4381500" cy="3219061"/>
          </a:xfrm>
          <a:prstGeom prst="rect">
            <a:avLst/>
          </a:prstGeom>
          <a:noFill/>
          <a:ln>
            <a:noFill/>
          </a:ln>
        </p:spPr>
        <p:txBody>
          <a:bodyPr wrap="square" anchor="t"/>
          <a:lstStyle/>
          <a:p>
            <a:pPr algn="l"/>
            <a:r>
              <a:rPr lang="en-US" sz="2400" i="1" dirty="0">
                <a:solidFill>
                  <a:srgbClr val="000000"/>
                </a:solidFill>
                <a:latin typeface="Arial"/>
              </a:rPr>
              <a:t>Compute is not just a checklist</a:t>
            </a:r>
            <a:endParaRPr lang="en-US" sz="2400" i="1" dirty="0"/>
          </a:p>
          <a:p>
            <a:pPr algn="l"/>
            <a:r>
              <a:rPr lang="en-US" sz="2400" i="1" dirty="0">
                <a:solidFill>
                  <a:srgbClr val="000000"/>
                </a:solidFill>
                <a:latin typeface="Arial"/>
              </a:rPr>
              <a:t>It turns source documents and extracted geometry into a spatial review package. The examiner learns when to trust extraction, when to correct it, and when a blocker must remain visible.</a:t>
            </a:r>
            <a:endParaRPr lang="en-US" sz="2400" i="1" dirty="0"/>
          </a:p>
        </p:txBody>
      </p:sp>
      <p:sp>
        <p:nvSpPr>
          <p:cNvPr id="6"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Day 3</a:t>
            </a:r>
            <a:endParaRPr lang="en-US" sz="1200"/>
          </a:p>
        </p:txBody>
      </p:sp>
      <p:pic>
        <p:nvPicPr>
          <p:cNvPr id="8" name="Picture 7">
            <a:extLst>
              <a:ext uri="{FF2B5EF4-FFF2-40B4-BE49-F238E27FC236}">
                <a16:creationId xmlns:a16="http://schemas.microsoft.com/office/drawing/2014/main" id="{C88192F1-4086-343D-29D4-C703754E9D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dirty="0">
                <a:solidFill>
                  <a:srgbClr val="111111"/>
                </a:solidFill>
                <a:latin typeface="Arial"/>
              </a:rPr>
              <a:t>Day 4 reviews Compare as evidence reconciliation</a:t>
            </a:r>
            <a:endParaRPr lang="en-US" sz="3800" dirty="0"/>
          </a:p>
        </p:txBody>
      </p:sp>
      <p:sp>
        <p:nvSpPr>
          <p:cNvPr id="3" name="Left"/>
          <p:cNvSpPr/>
          <p:nvPr/>
        </p:nvSpPr>
        <p:spPr>
          <a:xfrm>
            <a:off x="647700" y="1676400"/>
            <a:ext cx="3333750" cy="4532376"/>
          </a:xfrm>
          <a:prstGeom prst="rect">
            <a:avLst/>
          </a:prstGeom>
          <a:solidFill>
            <a:srgbClr val="F4F4F4"/>
          </a:solidFill>
          <a:ln w="12700">
            <a:solidFill>
              <a:srgbClr val="B8BCC4"/>
            </a:solidFill>
          </a:ln>
        </p:spPr>
        <p:txBody>
          <a:bodyPr/>
          <a:lstStyle/>
          <a:p>
            <a:endParaRPr/>
          </a:p>
        </p:txBody>
      </p:sp>
      <p:sp>
        <p:nvSpPr>
          <p:cNvPr id="4" name="Center"/>
          <p:cNvSpPr/>
          <p:nvPr/>
        </p:nvSpPr>
        <p:spPr>
          <a:xfrm>
            <a:off x="4438650" y="1676400"/>
            <a:ext cx="3333750" cy="4532376"/>
          </a:xfrm>
          <a:prstGeom prst="rect">
            <a:avLst/>
          </a:prstGeom>
          <a:solidFill>
            <a:srgbClr val="F4F4F4"/>
          </a:solidFill>
          <a:ln w="12700">
            <a:solidFill>
              <a:srgbClr val="B8BCC4"/>
            </a:solidFill>
          </a:ln>
        </p:spPr>
        <p:txBody>
          <a:bodyPr/>
          <a:lstStyle/>
          <a:p>
            <a:endParaRPr/>
          </a:p>
        </p:txBody>
      </p:sp>
      <p:sp>
        <p:nvSpPr>
          <p:cNvPr id="5" name="Right"/>
          <p:cNvSpPr/>
          <p:nvPr/>
        </p:nvSpPr>
        <p:spPr>
          <a:xfrm>
            <a:off x="8229600" y="1676400"/>
            <a:ext cx="3333750" cy="4532376"/>
          </a:xfrm>
          <a:prstGeom prst="rect">
            <a:avLst/>
          </a:prstGeom>
          <a:solidFill>
            <a:srgbClr val="F4F4F4"/>
          </a:solidFill>
          <a:ln w="12700">
            <a:solidFill>
              <a:srgbClr val="B8BCC4"/>
            </a:solidFill>
          </a:ln>
        </p:spPr>
        <p:txBody>
          <a:bodyPr/>
          <a:lstStyle/>
          <a:p>
            <a:endParaRPr/>
          </a:p>
        </p:txBody>
      </p:sp>
      <p:sp>
        <p:nvSpPr>
          <p:cNvPr id="6" name="Left text"/>
          <p:cNvSpPr txBox="1"/>
          <p:nvPr/>
        </p:nvSpPr>
        <p:spPr>
          <a:xfrm>
            <a:off x="933450" y="2047875"/>
            <a:ext cx="2762250" cy="3721989"/>
          </a:xfrm>
          <a:prstGeom prst="rect">
            <a:avLst/>
          </a:prstGeom>
          <a:noFill/>
          <a:ln>
            <a:noFill/>
          </a:ln>
        </p:spPr>
        <p:txBody>
          <a:bodyPr wrap="square" anchor="t"/>
          <a:lstStyle/>
          <a:p>
            <a:pPr algn="l"/>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Evidence sources</a:t>
            </a:r>
            <a:endParaRPr lang="en-US" sz="2400" dirty="0">
              <a:latin typeface="Calibri" panose="020F0502020204030204" pitchFamily="34" charset="0"/>
              <a:ea typeface="Calibri" panose="020F0502020204030204" pitchFamily="34" charset="0"/>
              <a:cs typeface="Calibri" panose="020F0502020204030204" pitchFamily="34" charset="0"/>
            </a:endParaRPr>
          </a:p>
          <a:p>
            <a:pPr algn="l"/>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Survey plan PDF, </a:t>
            </a:r>
            <a:r>
              <a:rPr lang="en-US" sz="2400" dirty="0" err="1">
                <a:solidFill>
                  <a:srgbClr val="000000"/>
                </a:solidFill>
                <a:latin typeface="Calibri" panose="020F0502020204030204" pitchFamily="34" charset="0"/>
                <a:ea typeface="Calibri" panose="020F0502020204030204" pitchFamily="34" charset="0"/>
                <a:cs typeface="Calibri" panose="020F0502020204030204" pitchFamily="34" charset="0"/>
              </a:rPr>
              <a:t>working_review</a:t>
            </a: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 geometry, Legal </a:t>
            </a:r>
            <a:r>
              <a:rPr lang="en-US" sz="2400" dirty="0" err="1">
                <a:solidFill>
                  <a:srgbClr val="000000"/>
                </a:solidFill>
                <a:latin typeface="Calibri" panose="020F0502020204030204" pitchFamily="34" charset="0"/>
                <a:ea typeface="Calibri" panose="020F0502020204030204" pitchFamily="34" charset="0"/>
                <a:cs typeface="Calibri" panose="020F0502020204030204" pitchFamily="34" charset="0"/>
              </a:rPr>
              <a:t>Cadastre</a:t>
            </a: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 Fiscal </a:t>
            </a:r>
            <a:r>
              <a:rPr lang="en-US" sz="2400" dirty="0" err="1">
                <a:solidFill>
                  <a:srgbClr val="000000"/>
                </a:solidFill>
                <a:latin typeface="Calibri" panose="020F0502020204030204" pitchFamily="34" charset="0"/>
                <a:ea typeface="Calibri" panose="020F0502020204030204" pitchFamily="34" charset="0"/>
                <a:cs typeface="Calibri" panose="020F0502020204030204" pitchFamily="34" charset="0"/>
              </a:rPr>
              <a:t>Cadastre</a:t>
            </a: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2400" dirty="0" err="1">
                <a:solidFill>
                  <a:srgbClr val="000000"/>
                </a:solidFill>
                <a:latin typeface="Calibri" panose="020F0502020204030204" pitchFamily="34" charset="0"/>
                <a:ea typeface="Calibri" panose="020F0502020204030204" pitchFamily="34" charset="0"/>
                <a:cs typeface="Calibri" panose="020F0502020204030204" pitchFamily="34" charset="0"/>
              </a:rPr>
              <a:t>Innola</a:t>
            </a: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 ownership searches.</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7" name="Center text"/>
          <p:cNvSpPr txBox="1"/>
          <p:nvPr/>
        </p:nvSpPr>
        <p:spPr>
          <a:xfrm>
            <a:off x="4724400" y="2047875"/>
            <a:ext cx="2762250" cy="3721989"/>
          </a:xfrm>
          <a:prstGeom prst="rect">
            <a:avLst/>
          </a:prstGeom>
          <a:noFill/>
          <a:ln>
            <a:noFill/>
          </a:ln>
        </p:spPr>
        <p:txBody>
          <a:bodyPr wrap="square" anchor="t"/>
          <a:lstStyle/>
          <a:p>
            <a:pPr algn="l"/>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Examiner action</a:t>
            </a:r>
            <a:endParaRPr lang="en-US" sz="2400" dirty="0">
              <a:latin typeface="Calibri" panose="020F0502020204030204" pitchFamily="34" charset="0"/>
              <a:ea typeface="Calibri" panose="020F0502020204030204" pitchFamily="34" charset="0"/>
              <a:cs typeface="Calibri" panose="020F0502020204030204" pitchFamily="34" charset="0"/>
            </a:endParaRPr>
          </a:p>
          <a:p>
            <a:pPr algn="l"/>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Search by Volume/Folio, PID, Land Val No., or owner name; keep valuable evidence; record notes.</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8" name="Right text"/>
          <p:cNvSpPr txBox="1"/>
          <p:nvPr/>
        </p:nvSpPr>
        <p:spPr>
          <a:xfrm>
            <a:off x="8515350" y="2047875"/>
            <a:ext cx="2762250" cy="3721989"/>
          </a:xfrm>
          <a:prstGeom prst="rect">
            <a:avLst/>
          </a:prstGeom>
          <a:noFill/>
          <a:ln>
            <a:noFill/>
          </a:ln>
        </p:spPr>
        <p:txBody>
          <a:bodyPr wrap="square" anchor="t"/>
          <a:lstStyle/>
          <a:p>
            <a:pPr algn="l"/>
            <a:r>
              <a:rPr lang="en-US" sz="2400">
                <a:solidFill>
                  <a:srgbClr val="000000"/>
                </a:solidFill>
                <a:latin typeface="Calibri" panose="020F0502020204030204" pitchFamily="34" charset="0"/>
                <a:ea typeface="Calibri" panose="020F0502020204030204" pitchFamily="34" charset="0"/>
                <a:cs typeface="Calibri" panose="020F0502020204030204" pitchFamily="34" charset="0"/>
              </a:rPr>
              <a:t>Closeout</a:t>
            </a:r>
            <a:endParaRPr lang="en-US" sz="2400">
              <a:latin typeface="Calibri" panose="020F0502020204030204" pitchFamily="34" charset="0"/>
              <a:ea typeface="Calibri" panose="020F0502020204030204" pitchFamily="34" charset="0"/>
              <a:cs typeface="Calibri" panose="020F0502020204030204" pitchFamily="34" charset="0"/>
            </a:endParaRPr>
          </a:p>
          <a:p>
            <a:pPr algn="l"/>
            <a:r>
              <a:rPr lang="en-US" sz="2400">
                <a:solidFill>
                  <a:srgbClr val="000000"/>
                </a:solidFill>
                <a:latin typeface="Calibri" panose="020F0502020204030204" pitchFamily="34" charset="0"/>
                <a:ea typeface="Calibri" panose="020F0502020204030204" pitchFamily="34" charset="0"/>
                <a:cs typeface="Calibri" panose="020F0502020204030204" pitchFamily="34" charset="0"/>
              </a:rPr>
              <a:t>Save the review, generate the Compare report, suspend if needed, or finalize when the evidence supports the decision.</a:t>
            </a:r>
            <a:endParaRPr lang="en-US" sz="2400">
              <a:latin typeface="Calibri" panose="020F0502020204030204" pitchFamily="34" charset="0"/>
              <a:ea typeface="Calibri" panose="020F0502020204030204" pitchFamily="34" charset="0"/>
              <a:cs typeface="Calibri" panose="020F0502020204030204" pitchFamily="34" charset="0"/>
            </a:endParaRPr>
          </a:p>
        </p:txBody>
      </p:sp>
      <p:sp>
        <p:nvSpPr>
          <p:cNvPr id="9"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Day 4</a:t>
            </a:r>
            <a:endParaRPr lang="en-US" sz="1200"/>
          </a:p>
        </p:txBody>
      </p:sp>
      <p:pic>
        <p:nvPicPr>
          <p:cNvPr id="11" name="Picture 10">
            <a:extLst>
              <a:ext uri="{FF2B5EF4-FFF2-40B4-BE49-F238E27FC236}">
                <a16:creationId xmlns:a16="http://schemas.microsoft.com/office/drawing/2014/main" id="{0D7BB5D2-044D-3AF0-0AE9-7E76A58EF5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The Sidwell Plan Extension keeps examination work structured</a:t>
            </a:r>
            <a:endParaRPr lang="en-US" sz="3800"/>
          </a:p>
        </p:txBody>
      </p:sp>
      <p:sp>
        <p:nvSpPr>
          <p:cNvPr id="3" name="Left"/>
          <p:cNvSpPr txBox="1"/>
          <p:nvPr/>
        </p:nvSpPr>
        <p:spPr>
          <a:xfrm>
            <a:off x="676454" y="2017745"/>
            <a:ext cx="4667250" cy="3714750"/>
          </a:xfrm>
          <a:prstGeom prst="rect">
            <a:avLst/>
          </a:prstGeom>
          <a:noFill/>
          <a:ln>
            <a:noFill/>
          </a:ln>
        </p:spPr>
        <p:txBody>
          <a:bodyPr wrap="square" anchor="t"/>
          <a:lstStyle/>
          <a:p>
            <a:pPr algn="l"/>
            <a:r>
              <a:rPr lang="en-US" sz="2300" dirty="0">
                <a:solidFill>
                  <a:srgbClr val="111111"/>
                </a:solidFill>
                <a:latin typeface="Calibri" panose="020F0502020204030204" pitchFamily="34" charset="0"/>
                <a:ea typeface="Calibri" panose="020F0502020204030204" pitchFamily="34" charset="0"/>
                <a:cs typeface="Calibri" panose="020F0502020204030204" pitchFamily="34" charset="0"/>
              </a:rPr>
              <a:t>What the add-in contributes</a:t>
            </a:r>
            <a:endParaRPr lang="en-US" sz="2300" dirty="0">
              <a:latin typeface="Calibri" panose="020F0502020204030204" pitchFamily="34" charset="0"/>
              <a:ea typeface="Calibri" panose="020F0502020204030204" pitchFamily="34" charset="0"/>
              <a:cs typeface="Calibri" panose="020F0502020204030204" pitchFamily="34" charset="0"/>
            </a:endParaRPr>
          </a:p>
          <a:p>
            <a:pPr algn="l"/>
            <a:r>
              <a:rPr lang="en-US" sz="2300" dirty="0">
                <a:solidFill>
                  <a:srgbClr val="111111"/>
                </a:solidFill>
                <a:latin typeface="Calibri" panose="020F0502020204030204" pitchFamily="34" charset="0"/>
                <a:ea typeface="Calibri" panose="020F0502020204030204" pitchFamily="34" charset="0"/>
                <a:cs typeface="Calibri" panose="020F0502020204030204" pitchFamily="34" charset="0"/>
              </a:rPr>
              <a:t>- Transaction list and stage routing</a:t>
            </a:r>
            <a:endParaRPr lang="en-US" sz="2300" dirty="0">
              <a:latin typeface="Calibri" panose="020F0502020204030204" pitchFamily="34" charset="0"/>
              <a:ea typeface="Calibri" panose="020F0502020204030204" pitchFamily="34" charset="0"/>
              <a:cs typeface="Calibri" panose="020F0502020204030204" pitchFamily="34" charset="0"/>
            </a:endParaRPr>
          </a:p>
          <a:p>
            <a:pPr algn="l"/>
            <a:r>
              <a:rPr lang="en-US" sz="2300" dirty="0">
                <a:solidFill>
                  <a:srgbClr val="111111"/>
                </a:solidFill>
                <a:latin typeface="Calibri" panose="020F0502020204030204" pitchFamily="34" charset="0"/>
                <a:ea typeface="Calibri" panose="020F0502020204030204" pitchFamily="34" charset="0"/>
                <a:cs typeface="Calibri" panose="020F0502020204030204" pitchFamily="34" charset="0"/>
              </a:rPr>
              <a:t>- Attached document loading and PDF review</a:t>
            </a:r>
            <a:endParaRPr lang="en-US" sz="2300" dirty="0">
              <a:latin typeface="Calibri" panose="020F0502020204030204" pitchFamily="34" charset="0"/>
              <a:ea typeface="Calibri" panose="020F0502020204030204" pitchFamily="34" charset="0"/>
              <a:cs typeface="Calibri" panose="020F0502020204030204" pitchFamily="34" charset="0"/>
            </a:endParaRPr>
          </a:p>
          <a:p>
            <a:pPr algn="l"/>
            <a:r>
              <a:rPr lang="en-US" sz="2300" dirty="0">
                <a:solidFill>
                  <a:srgbClr val="111111"/>
                </a:solidFill>
                <a:latin typeface="Calibri" panose="020F0502020204030204" pitchFamily="34" charset="0"/>
                <a:ea typeface="Calibri" panose="020F0502020204030204" pitchFamily="34" charset="0"/>
                <a:cs typeface="Calibri" panose="020F0502020204030204" pitchFamily="34" charset="0"/>
              </a:rPr>
              <a:t>- Compute checks and spatial-unit outputs</a:t>
            </a:r>
            <a:endParaRPr lang="en-US" sz="2300" dirty="0">
              <a:latin typeface="Calibri" panose="020F0502020204030204" pitchFamily="34" charset="0"/>
              <a:ea typeface="Calibri" panose="020F0502020204030204" pitchFamily="34" charset="0"/>
              <a:cs typeface="Calibri" panose="020F0502020204030204" pitchFamily="34" charset="0"/>
            </a:endParaRPr>
          </a:p>
          <a:p>
            <a:pPr algn="l"/>
            <a:r>
              <a:rPr lang="en-US" sz="2300" dirty="0">
                <a:solidFill>
                  <a:srgbClr val="111111"/>
                </a:solidFill>
                <a:latin typeface="Calibri" panose="020F0502020204030204" pitchFamily="34" charset="0"/>
                <a:ea typeface="Calibri" panose="020F0502020204030204" pitchFamily="34" charset="0"/>
                <a:cs typeface="Calibri" panose="020F0502020204030204" pitchFamily="34" charset="0"/>
              </a:rPr>
              <a:t>- Compare workspace for Legal/Fiscal evidence</a:t>
            </a:r>
            <a:endParaRPr lang="en-US" sz="2300" dirty="0">
              <a:latin typeface="Calibri" panose="020F0502020204030204" pitchFamily="34" charset="0"/>
              <a:ea typeface="Calibri" panose="020F0502020204030204" pitchFamily="34" charset="0"/>
              <a:cs typeface="Calibri" panose="020F0502020204030204" pitchFamily="34" charset="0"/>
            </a:endParaRPr>
          </a:p>
          <a:p>
            <a:pPr algn="l"/>
            <a:r>
              <a:rPr lang="en-US" sz="2300" dirty="0">
                <a:solidFill>
                  <a:srgbClr val="111111"/>
                </a:solidFill>
                <a:latin typeface="Calibri" panose="020F0502020204030204" pitchFamily="34" charset="0"/>
                <a:ea typeface="Calibri" panose="020F0502020204030204" pitchFamily="34" charset="0"/>
                <a:cs typeface="Calibri" panose="020F0502020204030204" pitchFamily="34" charset="0"/>
              </a:rPr>
              <a:t>- Save, suspend, finalize, and report generation</a:t>
            </a:r>
            <a:endParaRPr lang="en-US" sz="2300" dirty="0">
              <a:latin typeface="Calibri" panose="020F0502020204030204" pitchFamily="34" charset="0"/>
              <a:ea typeface="Calibri" panose="020F0502020204030204" pitchFamily="34" charset="0"/>
              <a:cs typeface="Calibri" panose="020F0502020204030204" pitchFamily="34" charset="0"/>
            </a:endParaRPr>
          </a:p>
        </p:txBody>
      </p:sp>
      <p:sp>
        <p:nvSpPr>
          <p:cNvPr id="4" name="Right"/>
          <p:cNvSpPr/>
          <p:nvPr/>
        </p:nvSpPr>
        <p:spPr>
          <a:xfrm>
            <a:off x="6191250" y="1638300"/>
            <a:ext cx="4572000" cy="4607052"/>
          </a:xfrm>
          <a:prstGeom prst="rect">
            <a:avLst/>
          </a:prstGeom>
          <a:solidFill>
            <a:srgbClr val="FFF2EA"/>
          </a:solidFill>
          <a:ln w="12700">
            <a:solidFill>
              <a:srgbClr val="FF6B35"/>
            </a:solidFill>
          </a:ln>
        </p:spPr>
        <p:txBody>
          <a:bodyPr/>
          <a:lstStyle/>
          <a:p>
            <a:endParaRPr/>
          </a:p>
        </p:txBody>
      </p:sp>
      <p:sp>
        <p:nvSpPr>
          <p:cNvPr id="5" name="Right text"/>
          <p:cNvSpPr txBox="1"/>
          <p:nvPr/>
        </p:nvSpPr>
        <p:spPr>
          <a:xfrm>
            <a:off x="6572250" y="2495907"/>
            <a:ext cx="3810000" cy="3014519"/>
          </a:xfrm>
          <a:prstGeom prst="rect">
            <a:avLst/>
          </a:prstGeom>
          <a:noFill/>
          <a:ln>
            <a:noFill/>
          </a:ln>
        </p:spPr>
        <p:txBody>
          <a:bodyPr wrap="square" anchor="t"/>
          <a:lstStyle/>
          <a:p>
            <a:pPr algn="l"/>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Training message</a:t>
            </a:r>
            <a:endParaRPr lang="en-US" sz="2800" dirty="0">
              <a:latin typeface="Calibri" panose="020F0502020204030204" pitchFamily="34" charset="0"/>
              <a:ea typeface="Calibri" panose="020F0502020204030204" pitchFamily="34" charset="0"/>
              <a:cs typeface="Calibri" panose="020F0502020204030204" pitchFamily="34" charset="0"/>
            </a:endParaRPr>
          </a:p>
          <a:p>
            <a:pPr algn="l"/>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The tools should feel like a guided examination workspace, not a separate GIS project to manage manually</a:t>
            </a:r>
            <a:r>
              <a:rPr lang="en-US" sz="32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6"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Sidwell Plan Extension</a:t>
            </a:r>
            <a:endParaRPr lang="en-US" sz="1200"/>
          </a:p>
        </p:txBody>
      </p:sp>
      <p:pic>
        <p:nvPicPr>
          <p:cNvPr id="8" name="Picture 7">
            <a:extLst>
              <a:ext uri="{FF2B5EF4-FFF2-40B4-BE49-F238E27FC236}">
                <a16:creationId xmlns:a16="http://schemas.microsoft.com/office/drawing/2014/main" id="{F361AB13-9F84-8C17-F9F8-D0F9BC9942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References used to frame the ArcGIS Pro portion</a:t>
            </a:r>
            <a:endParaRPr lang="en-US" sz="3800"/>
          </a:p>
        </p:txBody>
      </p:sp>
      <p:sp>
        <p:nvSpPr>
          <p:cNvPr id="3" name="Refs"/>
          <p:cNvSpPr txBox="1"/>
          <p:nvPr/>
        </p:nvSpPr>
        <p:spPr>
          <a:xfrm>
            <a:off x="723900" y="1619250"/>
            <a:ext cx="10287000" cy="3714750"/>
          </a:xfrm>
          <a:prstGeom prst="rect">
            <a:avLst/>
          </a:prstGeom>
          <a:noFill/>
          <a:ln>
            <a:noFill/>
          </a:ln>
        </p:spPr>
        <p:txBody>
          <a:bodyPr wrap="square" anchor="t"/>
          <a:lstStyle/>
          <a:p>
            <a:pPr algn="l"/>
            <a:r>
              <a:rPr lang="en-US" sz="2000" dirty="0">
                <a:solidFill>
                  <a:srgbClr val="111111"/>
                </a:solidFill>
                <a:latin typeface="Arial"/>
              </a:rPr>
              <a:t>Training syllabus PDFs</a:t>
            </a:r>
            <a:endParaRPr lang="en-US" sz="2000" dirty="0"/>
          </a:p>
          <a:p>
            <a:pPr algn="l"/>
            <a:r>
              <a:rPr lang="en-US" sz="2000" dirty="0">
                <a:solidFill>
                  <a:srgbClr val="111111"/>
                </a:solidFill>
                <a:latin typeface="Arial"/>
              </a:rPr>
              <a:t>- Unit 1 - Intro to ArcGIS Pro</a:t>
            </a:r>
            <a:endParaRPr lang="en-US" sz="2000" dirty="0"/>
          </a:p>
          <a:p>
            <a:pPr algn="l"/>
            <a:r>
              <a:rPr lang="en-US" sz="2000" dirty="0">
                <a:solidFill>
                  <a:srgbClr val="111111"/>
                </a:solidFill>
                <a:latin typeface="Arial"/>
              </a:rPr>
              <a:t>- Unit 2 - Editing in ArcGIS Pro</a:t>
            </a:r>
            <a:endParaRPr lang="en-US" sz="2000" dirty="0"/>
          </a:p>
          <a:p>
            <a:pPr algn="l"/>
            <a:r>
              <a:rPr lang="en-US" sz="2000" dirty="0">
                <a:solidFill>
                  <a:srgbClr val="111111"/>
                </a:solidFill>
                <a:latin typeface="Arial"/>
              </a:rPr>
              <a:t>- Unit 3 - Layouts in ArcGIS Pro</a:t>
            </a:r>
            <a:endParaRPr lang="en-US" sz="2000" dirty="0"/>
          </a:p>
          <a:p>
            <a:pPr algn="l"/>
            <a:r>
              <a:rPr lang="en-US" sz="2000" dirty="0">
                <a:solidFill>
                  <a:srgbClr val="111111"/>
                </a:solidFill>
                <a:latin typeface="Arial"/>
              </a:rPr>
              <a:t>- Unit 4 - Parcel Fabric</a:t>
            </a:r>
            <a:endParaRPr lang="en-US" sz="2000" dirty="0"/>
          </a:p>
          <a:p>
            <a:pPr algn="l"/>
            <a:r>
              <a:rPr lang="en-US" sz="2000" dirty="0">
                <a:solidFill>
                  <a:srgbClr val="111111"/>
                </a:solidFill>
                <a:latin typeface="Arial"/>
              </a:rPr>
              <a:t>- Unit 5 - Customizations and Tasks in ArcGIS Pro</a:t>
            </a:r>
            <a:endParaRPr lang="en-US" sz="2000" dirty="0"/>
          </a:p>
          <a:p>
            <a:pPr algn="l"/>
            <a:endParaRPr lang="en-US" sz="2000" dirty="0"/>
          </a:p>
          <a:p>
            <a:pPr algn="l"/>
            <a:r>
              <a:rPr lang="en-US" sz="2000" dirty="0">
                <a:solidFill>
                  <a:srgbClr val="111111"/>
                </a:solidFill>
                <a:latin typeface="Arial"/>
              </a:rPr>
              <a:t>Esri ArcGIS Pro documentation</a:t>
            </a:r>
            <a:endParaRPr lang="en-US" sz="2000" dirty="0"/>
          </a:p>
          <a:p>
            <a:pPr algn="l"/>
            <a:r>
              <a:rPr lang="en-US" sz="2000" dirty="0">
                <a:solidFill>
                  <a:srgbClr val="111111"/>
                </a:solidFill>
                <a:latin typeface="Arial"/>
              </a:rPr>
              <a:t>- ArcMap migration guidance, ArcMap document import, quick-start tutorials, and ArcGIS Pro 3.6/3.7 release notes</a:t>
            </a:r>
            <a:endParaRPr lang="en-US" sz="2000" dirty="0"/>
          </a:p>
          <a:p>
            <a:pPr algn="l"/>
            <a:endParaRPr lang="en-US" sz="2000" dirty="0"/>
          </a:p>
          <a:p>
            <a:pPr algn="l"/>
            <a:r>
              <a:rPr lang="en-US" sz="2000" dirty="0">
                <a:solidFill>
                  <a:srgbClr val="111111"/>
                </a:solidFill>
                <a:latin typeface="Arial"/>
              </a:rPr>
              <a:t>Project context</a:t>
            </a:r>
            <a:endParaRPr lang="en-US" sz="2000" dirty="0"/>
          </a:p>
          <a:p>
            <a:pPr algn="l"/>
            <a:r>
              <a:rPr lang="en-US" sz="2000" dirty="0">
                <a:solidFill>
                  <a:srgbClr val="111111"/>
                </a:solidFill>
                <a:latin typeface="Arial"/>
              </a:rPr>
              <a:t>- Sidwell Plan Extension story artifacts for Compute, Compare, Enterprise Legal/Fiscal evidence, and Compare lifecycle/reporting</a:t>
            </a:r>
            <a:endParaRPr lang="en-US" sz="2000" dirty="0"/>
          </a:p>
        </p:txBody>
      </p:sp>
      <p:sp>
        <p:nvSpPr>
          <p:cNvPr id="4"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Sources</a:t>
            </a:r>
            <a:endParaRPr lang="en-US" sz="1200"/>
          </a:p>
        </p:txBody>
      </p:sp>
      <p:pic>
        <p:nvPicPr>
          <p:cNvPr id="6" name="Picture 5">
            <a:extLst>
              <a:ext uri="{FF2B5EF4-FFF2-40B4-BE49-F238E27FC236}">
                <a16:creationId xmlns:a16="http://schemas.microsoft.com/office/drawing/2014/main" id="{E5EE6C5A-70FD-277D-0CE7-0644312FC2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11265408" cy="876300"/>
          </a:xfrm>
          <a:prstGeom prst="rect">
            <a:avLst/>
          </a:prstGeom>
          <a:noFill/>
          <a:ln>
            <a:noFill/>
          </a:ln>
        </p:spPr>
        <p:txBody>
          <a:bodyPr wrap="square" anchor="t"/>
          <a:lstStyle/>
          <a:p>
            <a:pPr algn="l"/>
            <a:r>
              <a:rPr lang="en-US" sz="3800" b="1" dirty="0">
                <a:solidFill>
                  <a:srgbClr val="111111"/>
                </a:solidFill>
                <a:latin typeface="Arial"/>
              </a:rPr>
              <a:t>Successful training means participants can explain and execute the workflow</a:t>
            </a:r>
            <a:endParaRPr lang="en-US" sz="3800" dirty="0"/>
          </a:p>
        </p:txBody>
      </p:sp>
      <p:sp>
        <p:nvSpPr>
          <p:cNvPr id="3" name="Success list"/>
          <p:cNvSpPr txBox="1"/>
          <p:nvPr/>
        </p:nvSpPr>
        <p:spPr>
          <a:xfrm>
            <a:off x="838200" y="2161033"/>
            <a:ext cx="10096500" cy="3429000"/>
          </a:xfrm>
          <a:prstGeom prst="rect">
            <a:avLst/>
          </a:prstGeom>
          <a:noFill/>
          <a:ln>
            <a:noFill/>
          </a:ln>
        </p:spPr>
        <p:txBody>
          <a:bodyPr wrap="square" anchor="t"/>
          <a:lstStyle/>
          <a:p>
            <a:pPr algn="l"/>
            <a:r>
              <a:rPr lang="en-US" sz="2500" dirty="0">
                <a:solidFill>
                  <a:srgbClr val="111111"/>
                </a:solidFill>
                <a:latin typeface="Arial"/>
              </a:rPr>
              <a:t>After four days, participants should be able to:</a:t>
            </a:r>
            <a:endParaRPr lang="en-US" sz="2500" dirty="0"/>
          </a:p>
          <a:p>
            <a:pPr algn="l"/>
            <a:r>
              <a:rPr lang="en-US" sz="2500" dirty="0">
                <a:solidFill>
                  <a:srgbClr val="111111"/>
                </a:solidFill>
                <a:latin typeface="Arial"/>
              </a:rPr>
              <a:t>- Work confidently in ArcGIS Pro without relying on ArcMap mental shortcuts.</a:t>
            </a:r>
            <a:endParaRPr lang="en-US" sz="2500" dirty="0"/>
          </a:p>
          <a:p>
            <a:pPr algn="l"/>
            <a:r>
              <a:rPr lang="en-US" sz="2500" dirty="0">
                <a:solidFill>
                  <a:srgbClr val="111111"/>
                </a:solidFill>
                <a:latin typeface="Arial"/>
              </a:rPr>
              <a:t>- Open the Plan Examination transaction and understand the current stage.</a:t>
            </a:r>
            <a:endParaRPr lang="en-US" sz="2500" dirty="0"/>
          </a:p>
          <a:p>
            <a:pPr algn="l"/>
            <a:r>
              <a:rPr lang="en-US" sz="2500" dirty="0">
                <a:solidFill>
                  <a:srgbClr val="111111"/>
                </a:solidFill>
                <a:latin typeface="Arial"/>
              </a:rPr>
              <a:t>- Review attached evidence, map context, and extracted geometry.</a:t>
            </a:r>
            <a:endParaRPr lang="en-US" sz="2500" dirty="0"/>
          </a:p>
          <a:p>
            <a:pPr algn="l"/>
            <a:r>
              <a:rPr lang="en-US" sz="2500" dirty="0">
                <a:solidFill>
                  <a:srgbClr val="111111"/>
                </a:solidFill>
                <a:latin typeface="Arial"/>
              </a:rPr>
              <a:t>- Use Compare to keep ownership evidence and record notes.</a:t>
            </a:r>
            <a:endParaRPr lang="en-US" sz="2500" dirty="0"/>
          </a:p>
          <a:p>
            <a:pPr algn="l"/>
            <a:r>
              <a:rPr lang="en-US" sz="2500" dirty="0">
                <a:solidFill>
                  <a:srgbClr val="111111"/>
                </a:solidFill>
                <a:latin typeface="Arial"/>
              </a:rPr>
              <a:t>- Save, suspend, or finalize with awareness of report and task state.</a:t>
            </a:r>
            <a:endParaRPr lang="en-US" sz="2500" dirty="0"/>
          </a:p>
        </p:txBody>
      </p:sp>
      <p:cxnSp>
        <p:nvCxnSpPr>
          <p:cNvPr id="4" name="Accent"/>
          <p:cNvCxnSpPr/>
          <p:nvPr/>
        </p:nvCxnSpPr>
        <p:spPr>
          <a:xfrm>
            <a:off x="838200" y="5966841"/>
            <a:ext cx="7239000" cy="0"/>
          </a:xfrm>
          <a:prstGeom prst="line">
            <a:avLst/>
          </a:prstGeom>
          <a:ln w="38100">
            <a:solidFill>
              <a:srgbClr val="FF6B35"/>
            </a:solidFill>
          </a:ln>
        </p:spPr>
      </p:cxnSp>
      <p:sp>
        <p:nvSpPr>
          <p:cNvPr id="5"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Training outcomes</a:t>
            </a:r>
            <a:endParaRPr lang="en-US" sz="1200"/>
          </a:p>
        </p:txBody>
      </p:sp>
      <p:pic>
        <p:nvPicPr>
          <p:cNvPr id="7" name="Picture 6">
            <a:extLst>
              <a:ext uri="{FF2B5EF4-FFF2-40B4-BE49-F238E27FC236}">
                <a16:creationId xmlns:a16="http://schemas.microsoft.com/office/drawing/2014/main" id="{AE1DE01E-05CA-4626-CB71-23A40F680E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p:nvPr/>
        </p:nvSpPr>
        <p:spPr>
          <a:xfrm>
            <a:off x="457200" y="381000"/>
            <a:ext cx="8096250" cy="876300"/>
          </a:xfrm>
          <a:prstGeom prst="rect">
            <a:avLst/>
          </a:prstGeom>
          <a:noFill/>
          <a:ln>
            <a:noFill/>
          </a:ln>
        </p:spPr>
        <p:txBody>
          <a:bodyPr wrap="square" anchor="t"/>
          <a:lstStyle/>
          <a:p>
            <a:pPr algn="l"/>
            <a:r>
              <a:rPr lang="en-US" sz="3800" b="1">
                <a:solidFill>
                  <a:srgbClr val="111111"/>
                </a:solidFill>
                <a:latin typeface="Arial"/>
              </a:rPr>
              <a:t>Hands-on practice should follow real examiner decisions</a:t>
            </a:r>
            <a:endParaRPr lang="en-US" sz="3800"/>
          </a:p>
        </p:txBody>
      </p:sp>
      <p:sp>
        <p:nvSpPr>
          <p:cNvPr id="3" name="Lab 1"/>
          <p:cNvSpPr/>
          <p:nvPr/>
        </p:nvSpPr>
        <p:spPr>
          <a:xfrm>
            <a:off x="666750" y="1666874"/>
            <a:ext cx="3048000" cy="4370031"/>
          </a:xfrm>
          <a:prstGeom prst="rect">
            <a:avLst/>
          </a:prstGeom>
          <a:solidFill>
            <a:srgbClr val="F4F4F4"/>
          </a:solidFill>
          <a:ln w="12700">
            <a:solidFill>
              <a:srgbClr val="B8BCC4"/>
            </a:solidFill>
          </a:ln>
        </p:spPr>
        <p:txBody>
          <a:bodyPr/>
          <a:lstStyle/>
          <a:p>
            <a:endParaRPr/>
          </a:p>
        </p:txBody>
      </p:sp>
      <p:sp>
        <p:nvSpPr>
          <p:cNvPr id="4" name="Lab 2"/>
          <p:cNvSpPr/>
          <p:nvPr/>
        </p:nvSpPr>
        <p:spPr>
          <a:xfrm>
            <a:off x="4572000" y="1666874"/>
            <a:ext cx="3048000" cy="4370031"/>
          </a:xfrm>
          <a:prstGeom prst="rect">
            <a:avLst/>
          </a:prstGeom>
          <a:solidFill>
            <a:srgbClr val="F4F4F4"/>
          </a:solidFill>
          <a:ln w="12700">
            <a:solidFill>
              <a:srgbClr val="B8BCC4"/>
            </a:solidFill>
          </a:ln>
        </p:spPr>
        <p:txBody>
          <a:bodyPr/>
          <a:lstStyle/>
          <a:p>
            <a:endParaRPr/>
          </a:p>
        </p:txBody>
      </p:sp>
      <p:sp>
        <p:nvSpPr>
          <p:cNvPr id="5" name="Lab 3"/>
          <p:cNvSpPr/>
          <p:nvPr/>
        </p:nvSpPr>
        <p:spPr>
          <a:xfrm>
            <a:off x="8477250" y="1666874"/>
            <a:ext cx="3048000" cy="4370031"/>
          </a:xfrm>
          <a:prstGeom prst="rect">
            <a:avLst/>
          </a:prstGeom>
          <a:solidFill>
            <a:srgbClr val="F4F4F4"/>
          </a:solidFill>
          <a:ln w="12700">
            <a:solidFill>
              <a:srgbClr val="B8BCC4"/>
            </a:solidFill>
          </a:ln>
        </p:spPr>
        <p:txBody>
          <a:bodyPr/>
          <a:lstStyle/>
          <a:p>
            <a:endParaRPr/>
          </a:p>
        </p:txBody>
      </p:sp>
      <p:sp>
        <p:nvSpPr>
          <p:cNvPr id="6" name="Lab 1 text"/>
          <p:cNvSpPr txBox="1"/>
          <p:nvPr/>
        </p:nvSpPr>
        <p:spPr>
          <a:xfrm>
            <a:off x="952500" y="2047875"/>
            <a:ext cx="2476500" cy="3681121"/>
          </a:xfrm>
          <a:prstGeom prst="rect">
            <a:avLst/>
          </a:prstGeom>
          <a:noFill/>
          <a:ln>
            <a:noFill/>
          </a:ln>
        </p:spPr>
        <p:txBody>
          <a:bodyPr wrap="square" anchor="t"/>
          <a:lstStyle/>
          <a:p>
            <a:pPr algn="l"/>
            <a:r>
              <a:rPr lang="en-US" sz="2300" dirty="0">
                <a:solidFill>
                  <a:srgbClr val="000000"/>
                </a:solidFill>
                <a:latin typeface="Calibri" panose="020F0502020204030204" pitchFamily="34" charset="0"/>
                <a:ea typeface="Calibri" panose="020F0502020204030204" pitchFamily="34" charset="0"/>
                <a:cs typeface="Calibri" panose="020F0502020204030204" pitchFamily="34" charset="0"/>
              </a:rPr>
              <a:t>Lab 1</a:t>
            </a:r>
            <a:endParaRPr lang="en-US" sz="2300" dirty="0">
              <a:latin typeface="Calibri" panose="020F0502020204030204" pitchFamily="34" charset="0"/>
              <a:ea typeface="Calibri" panose="020F0502020204030204" pitchFamily="34" charset="0"/>
              <a:cs typeface="Calibri" panose="020F0502020204030204" pitchFamily="34" charset="0"/>
            </a:endParaRPr>
          </a:p>
          <a:p>
            <a:pPr algn="l"/>
            <a:r>
              <a:rPr lang="en-US" sz="2300" dirty="0">
                <a:solidFill>
                  <a:srgbClr val="000000"/>
                </a:solidFill>
                <a:latin typeface="Calibri" panose="020F0502020204030204" pitchFamily="34" charset="0"/>
                <a:ea typeface="Calibri" panose="020F0502020204030204" pitchFamily="34" charset="0"/>
                <a:cs typeface="Calibri" panose="020F0502020204030204" pitchFamily="34" charset="0"/>
              </a:rPr>
              <a:t>Open and inspect</a:t>
            </a:r>
            <a:endParaRPr lang="en-US" sz="2300" dirty="0">
              <a:latin typeface="Calibri" panose="020F0502020204030204" pitchFamily="34" charset="0"/>
              <a:ea typeface="Calibri" panose="020F0502020204030204" pitchFamily="34" charset="0"/>
              <a:cs typeface="Calibri" panose="020F0502020204030204" pitchFamily="34" charset="0"/>
            </a:endParaRPr>
          </a:p>
          <a:p>
            <a:pPr algn="l"/>
            <a:r>
              <a:rPr lang="en-US" sz="2300" dirty="0">
                <a:solidFill>
                  <a:srgbClr val="000000"/>
                </a:solidFill>
                <a:latin typeface="Calibri" panose="020F0502020204030204" pitchFamily="34" charset="0"/>
                <a:ea typeface="Calibri" panose="020F0502020204030204" pitchFamily="34" charset="0"/>
                <a:cs typeface="Calibri" panose="020F0502020204030204" pitchFamily="34" charset="0"/>
              </a:rPr>
              <a:t>Participants load the transaction, documents, map layers, and evidence context.</a:t>
            </a:r>
            <a:endParaRPr lang="en-US" sz="2300" dirty="0">
              <a:latin typeface="Calibri" panose="020F0502020204030204" pitchFamily="34" charset="0"/>
              <a:ea typeface="Calibri" panose="020F0502020204030204" pitchFamily="34" charset="0"/>
              <a:cs typeface="Calibri" panose="020F0502020204030204" pitchFamily="34" charset="0"/>
            </a:endParaRPr>
          </a:p>
        </p:txBody>
      </p:sp>
      <p:sp>
        <p:nvSpPr>
          <p:cNvPr id="7" name="Lab 2 text"/>
          <p:cNvSpPr txBox="1"/>
          <p:nvPr/>
        </p:nvSpPr>
        <p:spPr>
          <a:xfrm>
            <a:off x="4857750" y="2047875"/>
            <a:ext cx="2476500" cy="3681121"/>
          </a:xfrm>
          <a:prstGeom prst="rect">
            <a:avLst/>
          </a:prstGeom>
          <a:noFill/>
          <a:ln>
            <a:noFill/>
          </a:ln>
        </p:spPr>
        <p:txBody>
          <a:bodyPr wrap="square" anchor="t"/>
          <a:lstStyle/>
          <a:p>
            <a:pPr algn="l"/>
            <a:r>
              <a:rPr lang="en-US" sz="2300">
                <a:solidFill>
                  <a:srgbClr val="000000"/>
                </a:solidFill>
                <a:latin typeface="Calibri" panose="020F0502020204030204" pitchFamily="34" charset="0"/>
                <a:ea typeface="Calibri" panose="020F0502020204030204" pitchFamily="34" charset="0"/>
                <a:cs typeface="Calibri" panose="020F0502020204030204" pitchFamily="34" charset="0"/>
              </a:rPr>
              <a:t>Lab 2</a:t>
            </a:r>
            <a:endParaRPr lang="en-US" sz="2300">
              <a:latin typeface="Calibri" panose="020F0502020204030204" pitchFamily="34" charset="0"/>
              <a:ea typeface="Calibri" panose="020F0502020204030204" pitchFamily="34" charset="0"/>
              <a:cs typeface="Calibri" panose="020F0502020204030204" pitchFamily="34" charset="0"/>
            </a:endParaRPr>
          </a:p>
          <a:p>
            <a:pPr algn="l"/>
            <a:r>
              <a:rPr lang="en-US" sz="2300">
                <a:solidFill>
                  <a:srgbClr val="000000"/>
                </a:solidFill>
                <a:latin typeface="Calibri" panose="020F0502020204030204" pitchFamily="34" charset="0"/>
                <a:ea typeface="Calibri" panose="020F0502020204030204" pitchFamily="34" charset="0"/>
                <a:cs typeface="Calibri" panose="020F0502020204030204" pitchFamily="34" charset="0"/>
              </a:rPr>
              <a:t>Resolve or retain</a:t>
            </a:r>
            <a:endParaRPr lang="en-US" sz="2300">
              <a:latin typeface="Calibri" panose="020F0502020204030204" pitchFamily="34" charset="0"/>
              <a:ea typeface="Calibri" panose="020F0502020204030204" pitchFamily="34" charset="0"/>
              <a:cs typeface="Calibri" panose="020F0502020204030204" pitchFamily="34" charset="0"/>
            </a:endParaRPr>
          </a:p>
          <a:p>
            <a:pPr algn="l"/>
            <a:r>
              <a:rPr lang="en-US" sz="2300">
                <a:solidFill>
                  <a:srgbClr val="000000"/>
                </a:solidFill>
                <a:latin typeface="Calibri" panose="020F0502020204030204" pitchFamily="34" charset="0"/>
                <a:ea typeface="Calibri" panose="020F0502020204030204" pitchFamily="34" charset="0"/>
                <a:cs typeface="Calibri" panose="020F0502020204030204" pitchFamily="34" charset="0"/>
              </a:rPr>
              <a:t>Participants correct what can be corrected and preserve blockers that need review.</a:t>
            </a:r>
            <a:endParaRPr lang="en-US" sz="2300">
              <a:latin typeface="Calibri" panose="020F0502020204030204" pitchFamily="34" charset="0"/>
              <a:ea typeface="Calibri" panose="020F0502020204030204" pitchFamily="34" charset="0"/>
              <a:cs typeface="Calibri" panose="020F0502020204030204" pitchFamily="34" charset="0"/>
            </a:endParaRPr>
          </a:p>
        </p:txBody>
      </p:sp>
      <p:sp>
        <p:nvSpPr>
          <p:cNvPr id="8" name="Lab 3 text"/>
          <p:cNvSpPr txBox="1"/>
          <p:nvPr/>
        </p:nvSpPr>
        <p:spPr>
          <a:xfrm>
            <a:off x="8763000" y="2047875"/>
            <a:ext cx="2476500" cy="3681121"/>
          </a:xfrm>
          <a:prstGeom prst="rect">
            <a:avLst/>
          </a:prstGeom>
          <a:noFill/>
          <a:ln>
            <a:noFill/>
          </a:ln>
        </p:spPr>
        <p:txBody>
          <a:bodyPr wrap="square" anchor="t"/>
          <a:lstStyle/>
          <a:p>
            <a:pPr algn="l"/>
            <a:r>
              <a:rPr lang="en-US" sz="2300">
                <a:solidFill>
                  <a:srgbClr val="000000"/>
                </a:solidFill>
                <a:latin typeface="Calibri" panose="020F0502020204030204" pitchFamily="34" charset="0"/>
                <a:ea typeface="Calibri" panose="020F0502020204030204" pitchFamily="34" charset="0"/>
                <a:cs typeface="Calibri" panose="020F0502020204030204" pitchFamily="34" charset="0"/>
              </a:rPr>
              <a:t>Lab 3</a:t>
            </a:r>
            <a:endParaRPr lang="en-US" sz="2300">
              <a:latin typeface="Calibri" panose="020F0502020204030204" pitchFamily="34" charset="0"/>
              <a:ea typeface="Calibri" panose="020F0502020204030204" pitchFamily="34" charset="0"/>
              <a:cs typeface="Calibri" panose="020F0502020204030204" pitchFamily="34" charset="0"/>
            </a:endParaRPr>
          </a:p>
          <a:p>
            <a:pPr algn="l"/>
            <a:r>
              <a:rPr lang="en-US" sz="2300">
                <a:solidFill>
                  <a:srgbClr val="000000"/>
                </a:solidFill>
                <a:latin typeface="Calibri" panose="020F0502020204030204" pitchFamily="34" charset="0"/>
                <a:ea typeface="Calibri" panose="020F0502020204030204" pitchFamily="34" charset="0"/>
                <a:cs typeface="Calibri" panose="020F0502020204030204" pitchFamily="34" charset="0"/>
              </a:rPr>
              <a:t>Save or finalize</a:t>
            </a:r>
            <a:endParaRPr lang="en-US" sz="2300">
              <a:latin typeface="Calibri" panose="020F0502020204030204" pitchFamily="34" charset="0"/>
              <a:ea typeface="Calibri" panose="020F0502020204030204" pitchFamily="34" charset="0"/>
              <a:cs typeface="Calibri" panose="020F0502020204030204" pitchFamily="34" charset="0"/>
            </a:endParaRPr>
          </a:p>
          <a:p>
            <a:pPr algn="l"/>
            <a:r>
              <a:rPr lang="en-US" sz="2300">
                <a:solidFill>
                  <a:srgbClr val="000000"/>
                </a:solidFill>
                <a:latin typeface="Calibri" panose="020F0502020204030204" pitchFamily="34" charset="0"/>
                <a:ea typeface="Calibri" panose="020F0502020204030204" pitchFamily="34" charset="0"/>
                <a:cs typeface="Calibri" panose="020F0502020204030204" pitchFamily="34" charset="0"/>
              </a:rPr>
              <a:t>Participants generate reports and understand when to suspend or complete the task.</a:t>
            </a:r>
            <a:endParaRPr lang="en-US" sz="2300">
              <a:latin typeface="Calibri" panose="020F0502020204030204" pitchFamily="34" charset="0"/>
              <a:ea typeface="Calibri" panose="020F0502020204030204" pitchFamily="34" charset="0"/>
              <a:cs typeface="Calibri" panose="020F0502020204030204" pitchFamily="34" charset="0"/>
            </a:endParaRPr>
          </a:p>
        </p:txBody>
      </p:sp>
      <p:sp>
        <p:nvSpPr>
          <p:cNvPr id="9" name="Footer"/>
          <p:cNvSpPr txBox="1"/>
          <p:nvPr/>
        </p:nvSpPr>
        <p:spPr>
          <a:xfrm>
            <a:off x="457200" y="6343650"/>
            <a:ext cx="7620000" cy="266700"/>
          </a:xfrm>
          <a:prstGeom prst="rect">
            <a:avLst/>
          </a:prstGeom>
          <a:noFill/>
          <a:ln>
            <a:noFill/>
          </a:ln>
        </p:spPr>
        <p:txBody>
          <a:bodyPr wrap="square" anchor="t"/>
          <a:lstStyle/>
          <a:p>
            <a:pPr algn="l"/>
            <a:r>
              <a:rPr lang="en-US" sz="1200">
                <a:solidFill>
                  <a:srgbClr val="666666"/>
                </a:solidFill>
                <a:latin typeface="Arial"/>
              </a:rPr>
              <a:t>Suggested lab pattern</a:t>
            </a:r>
            <a:endParaRPr lang="en-US" sz="1200"/>
          </a:p>
        </p:txBody>
      </p:sp>
      <p:pic>
        <p:nvPicPr>
          <p:cNvPr id="11" name="Picture 10">
            <a:extLst>
              <a:ext uri="{FF2B5EF4-FFF2-40B4-BE49-F238E27FC236}">
                <a16:creationId xmlns:a16="http://schemas.microsoft.com/office/drawing/2014/main" id="{DC932983-291A-6502-8367-A075CB31DC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7982" y="247650"/>
            <a:ext cx="1428750" cy="2667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1066</Words>
  <Application>Microsoft Office PowerPoint</Application>
  <PresentationFormat>Widescreen</PresentationFormat>
  <Paragraphs>139</Paragraphs>
  <Slides>12</Slides>
  <Notes>0</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Sidwell / NLA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NLA Plan Examination 4-Day Training Overview</dc:title>
  <dc:creator>Codex / Paige</dc:creator>
  <cp:lastModifiedBy>Juan Pablo Solíz</cp:lastModifiedBy>
  <cp:revision>3</cp:revision>
  <dcterms:created xsi:type="dcterms:W3CDTF">2026-07-19T00:00:00Z</dcterms:created>
  <dcterms:modified xsi:type="dcterms:W3CDTF">2026-07-19T18:34:05Z</dcterms:modified>
</cp:coreProperties>
</file>