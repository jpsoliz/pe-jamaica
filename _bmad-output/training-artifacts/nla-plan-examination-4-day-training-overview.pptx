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type="screen16x9"/>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457200" y="457200"/>
            <a:ext cx="6191250" cy="266700"/>
          </a:xfrm>
          <a:prstGeom prst="rect">
            <a:avLst/>
          </a:prstGeom>
          <a:noFill/>
          <a:ln>
            <a:noFill/>
          </a:ln>
        </p:spPr>
        <p:txBody>
          <a:bodyPr wrap="square" anchor="t"/>
          <a:lstStyle/>
          <a:p>
            <a:pPr algn="l"/>
            <a:r>
              <a:rPr lang="en-US" sz="1600" b="1">
                <a:solidFill>
                  <a:srgbClr val="555555"/>
                </a:solidFill>
                <a:latin typeface="Arial"/>
              </a:rPr>
              <a:t>NLA e-Titling | ArcGIS Pro and Cadastre Tools</a:t>
            </a:r>
            <a:endParaRPr lang="en-US" sz="1600"/>
          </a:p>
        </p:txBody>
      </p:sp>
      <p:sp>
        <p:nvSpPr>
          <p:cNvPr id="3" name="Main title"/>
          <p:cNvSpPr txBox="1"/>
          <p:nvPr/>
        </p:nvSpPr>
        <p:spPr>
          <a:xfrm>
            <a:off x="457200" y="1543050"/>
            <a:ext cx="9334500" cy="1619250"/>
          </a:xfrm>
          <a:prstGeom prst="rect">
            <a:avLst/>
          </a:prstGeom>
          <a:noFill/>
          <a:ln>
            <a:noFill/>
          </a:ln>
        </p:spPr>
        <p:txBody>
          <a:bodyPr wrap="square" anchor="t"/>
          <a:lstStyle/>
          <a:p>
            <a:pPr algn="l"/>
            <a:r>
              <a:rPr lang="en-US" sz="5200" b="1">
                <a:solidFill>
                  <a:srgbClr val="000000"/>
                </a:solidFill>
                <a:latin typeface="Arial"/>
              </a:rPr>
              <a:t>Plan Examination</a:t>
            </a:r>
            <a:endParaRPr lang="en-US" sz="5200"/>
          </a:p>
          <a:p>
            <a:pPr algn="l"/>
            <a:r>
              <a:rPr lang="en-US" sz="5200" b="1">
                <a:solidFill>
                  <a:srgbClr val="000000"/>
                </a:solidFill>
                <a:latin typeface="Arial"/>
              </a:rPr>
              <a:t>4-day training overview</a:t>
            </a:r>
            <a:endParaRPr lang="en-US" sz="5200"/>
          </a:p>
        </p:txBody>
      </p:sp>
      <p:sp>
        <p:nvSpPr>
          <p:cNvPr id="4" name="Subtitle"/>
          <p:cNvSpPr txBox="1"/>
          <p:nvPr/>
        </p:nvSpPr>
        <p:spPr>
          <a:xfrm>
            <a:off x="495300" y="3810000"/>
            <a:ext cx="6858000" cy="1047750"/>
          </a:xfrm>
          <a:prstGeom prst="rect">
            <a:avLst/>
          </a:prstGeom>
          <a:noFill/>
          <a:ln>
            <a:noFill/>
          </a:ln>
        </p:spPr>
        <p:txBody>
          <a:bodyPr wrap="square" anchor="t"/>
          <a:lstStyle/>
          <a:p>
            <a:pPr algn="l"/>
            <a:r>
              <a:rPr lang="en-US" sz="2200">
                <a:solidFill>
                  <a:srgbClr val="333333"/>
                </a:solidFill>
                <a:latin typeface="Arial"/>
              </a:rPr>
              <a:t>Two days establish the ArcGIS Pro working model. Two days apply that model to the Plan Examination transaction and the Sidwell Plan Extension tools.</a:t>
            </a:r>
            <a:endParaRPr lang="en-US" sz="2200"/>
          </a:p>
        </p:txBody>
      </p:sp>
      <p:sp>
        <p:nvSpPr>
          <p:cNvPr id="5" name="Right rail"/>
          <p:cNvSpPr/>
          <p:nvPr/>
        </p:nvSpPr>
        <p:spPr>
          <a:xfrm>
            <a:off x="9144000" y="762000"/>
            <a:ext cx="2095500" cy="4953000"/>
          </a:xfrm>
          <a:prstGeom prst="rect">
            <a:avLst/>
          </a:prstGeom>
          <a:solidFill>
            <a:srgbClr val="F0F3F6"/>
          </a:solidFill>
          <a:ln w="12700">
            <a:solidFill>
              <a:srgbClr val="F0F3F6"/>
            </a:solidFill>
          </a:ln>
        </p:spPr>
        <p:txBody>
          <a:bodyPr/>
          <a:lstStyle/>
          <a:p/>
        </p:txBody>
      </p:sp>
      <p:sp>
        <p:nvSpPr>
          <p:cNvPr id="6" name="Right rail text"/>
          <p:cNvSpPr txBox="1"/>
          <p:nvPr/>
        </p:nvSpPr>
        <p:spPr>
          <a:xfrm>
            <a:off x="9429750" y="1333500"/>
            <a:ext cx="1571625" cy="3048000"/>
          </a:xfrm>
          <a:prstGeom prst="rect">
            <a:avLst/>
          </a:prstGeom>
          <a:noFill/>
          <a:ln>
            <a:noFill/>
          </a:ln>
        </p:spPr>
        <p:txBody>
          <a:bodyPr wrap="square" anchor="t"/>
          <a:lstStyle/>
          <a:p>
            <a:pPr algn="l"/>
            <a:r>
              <a:rPr lang="en-US" sz="2200" b="1">
                <a:solidFill>
                  <a:srgbClr val="111111"/>
                </a:solidFill>
                <a:latin typeface="Arial"/>
              </a:rPr>
              <a:t>ArcMap to ArcGIS Pro</a:t>
            </a:r>
            <a:endParaRPr lang="en-US" sz="2200"/>
          </a:p>
          <a:p>
            <a:pPr algn="l"/>
            <a:r>
              <a:rPr lang="en-US" sz="2200" b="1">
                <a:solidFill>
                  <a:srgbClr val="111111"/>
                </a:solidFill>
                <a:latin typeface="Arial"/>
              </a:rPr>
              <a:t>Transaction workflow</a:t>
            </a:r>
            <a:endParaRPr lang="en-US" sz="2200"/>
          </a:p>
          <a:p>
            <a:pPr algn="l"/>
            <a:r>
              <a:rPr lang="en-US" sz="2200" b="1">
                <a:solidFill>
                  <a:srgbClr val="111111"/>
                </a:solidFill>
                <a:latin typeface="Arial"/>
              </a:rPr>
              <a:t>Compute review</a:t>
            </a:r>
            <a:endParaRPr lang="en-US" sz="2200"/>
          </a:p>
          <a:p>
            <a:pPr algn="l"/>
            <a:r>
              <a:rPr lang="en-US" sz="2200" b="1">
                <a:solidFill>
                  <a:srgbClr val="111111"/>
                </a:solidFill>
                <a:latin typeface="Arial"/>
              </a:rPr>
              <a:t>Compare evidence</a:t>
            </a:r>
            <a:endParaRPr lang="en-US" sz="2200"/>
          </a:p>
          <a:p>
            <a:pPr algn="l"/>
            <a:r>
              <a:rPr lang="en-US" sz="2200" b="1">
                <a:solidFill>
                  <a:srgbClr val="111111"/>
                </a:solidFill>
                <a:latin typeface="Arial"/>
              </a:rPr>
              <a:t>Reports and handoff</a:t>
            </a:r>
            <a:endParaRPr lang="en-US" sz="2200"/>
          </a:p>
        </p:txBody>
      </p:sp>
      <p:sp>
        <p:nvSpPr>
          <p:cNvPr id="7"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Draft training deck | Prepared for initial planning</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four days build from platform habits to examination decisions</a:t>
            </a:r>
            <a:endParaRPr lang="en-US" sz="3800"/>
          </a:p>
        </p:txBody>
      </p:sp>
      <p:sp>
        <p:nvSpPr>
          <p:cNvPr id="3" name="D1"/>
          <p:cNvSpPr/>
          <p:nvPr/>
        </p:nvSpPr>
        <p:spPr>
          <a:xfrm>
            <a:off x="590550" y="1714500"/>
            <a:ext cx="2571750" cy="3333750"/>
          </a:xfrm>
          <a:prstGeom prst="rect">
            <a:avLst/>
          </a:prstGeom>
          <a:solidFill>
            <a:srgbClr val="F4F4F4"/>
          </a:solidFill>
          <a:ln w="12700">
            <a:solidFill>
              <a:srgbClr val="B8BCC4"/>
            </a:solidFill>
          </a:ln>
        </p:spPr>
        <p:txBody>
          <a:bodyPr/>
          <a:lstStyle/>
          <a:p/>
        </p:txBody>
      </p:sp>
      <p:sp>
        <p:nvSpPr>
          <p:cNvPr id="4" name="D2"/>
          <p:cNvSpPr/>
          <p:nvPr/>
        </p:nvSpPr>
        <p:spPr>
          <a:xfrm>
            <a:off x="3409950" y="1714500"/>
            <a:ext cx="2571750" cy="3333750"/>
          </a:xfrm>
          <a:prstGeom prst="rect">
            <a:avLst/>
          </a:prstGeom>
          <a:solidFill>
            <a:srgbClr val="F4F4F4"/>
          </a:solidFill>
          <a:ln w="12700">
            <a:solidFill>
              <a:srgbClr val="B8BCC4"/>
            </a:solidFill>
          </a:ln>
        </p:spPr>
        <p:txBody>
          <a:bodyPr/>
          <a:lstStyle/>
          <a:p/>
        </p:txBody>
      </p:sp>
      <p:sp>
        <p:nvSpPr>
          <p:cNvPr id="5" name="D3"/>
          <p:cNvSpPr/>
          <p:nvPr/>
        </p:nvSpPr>
        <p:spPr>
          <a:xfrm>
            <a:off x="6229350" y="1714500"/>
            <a:ext cx="2571750" cy="3333750"/>
          </a:xfrm>
          <a:prstGeom prst="rect">
            <a:avLst/>
          </a:prstGeom>
          <a:solidFill>
            <a:srgbClr val="FFF2EA"/>
          </a:solidFill>
          <a:ln w="12700">
            <a:solidFill>
              <a:srgbClr val="FF6B35"/>
            </a:solidFill>
          </a:ln>
        </p:spPr>
        <p:txBody>
          <a:bodyPr/>
          <a:lstStyle/>
          <a:p/>
        </p:txBody>
      </p:sp>
      <p:sp>
        <p:nvSpPr>
          <p:cNvPr id="6" name="D4"/>
          <p:cNvSpPr/>
          <p:nvPr/>
        </p:nvSpPr>
        <p:spPr>
          <a:xfrm>
            <a:off x="9048750" y="1714500"/>
            <a:ext cx="2571750" cy="3333750"/>
          </a:xfrm>
          <a:prstGeom prst="rect">
            <a:avLst/>
          </a:prstGeom>
          <a:solidFill>
            <a:srgbClr val="FFF2EA"/>
          </a:solidFill>
          <a:ln w="12700">
            <a:solidFill>
              <a:srgbClr val="FF6B35"/>
            </a:solidFill>
          </a:ln>
        </p:spPr>
        <p:txBody>
          <a:bodyPr/>
          <a:lstStyle/>
          <a:p/>
        </p:txBody>
      </p:sp>
      <p:sp>
        <p:nvSpPr>
          <p:cNvPr id="7" name="D1 text"/>
          <p:cNvSpPr txBox="1"/>
          <p:nvPr/>
        </p:nvSpPr>
        <p:spPr>
          <a:xfrm>
            <a:off x="838200" y="2000250"/>
            <a:ext cx="2095500" cy="2476500"/>
          </a:xfrm>
          <a:prstGeom prst="rect">
            <a:avLst/>
          </a:prstGeom>
          <a:noFill/>
          <a:ln>
            <a:noFill/>
          </a:ln>
        </p:spPr>
        <p:txBody>
          <a:bodyPr wrap="square" anchor="t"/>
          <a:lstStyle/>
          <a:p>
            <a:pPr algn="l"/>
            <a:r>
              <a:rPr lang="en-US" sz="2200" b="1">
                <a:solidFill>
                  <a:srgbClr val="000000"/>
                </a:solidFill>
                <a:latin typeface="Arial"/>
              </a:rPr>
              <a:t>Day 1</a:t>
            </a:r>
            <a:endParaRPr lang="en-US" sz="2200"/>
          </a:p>
          <a:p>
            <a:pPr algn="l"/>
            <a:r>
              <a:rPr lang="en-US" sz="2200" b="1">
                <a:solidFill>
                  <a:srgbClr val="000000"/>
                </a:solidFill>
                <a:latin typeface="Arial"/>
              </a:rPr>
              <a:t>ArcGIS Pro foundations</a:t>
            </a:r>
            <a:endParaRPr lang="en-US" sz="2200"/>
          </a:p>
          <a:p>
            <a:pPr algn="l"/>
            <a:r>
              <a:rPr lang="en-US" sz="2200" b="1">
                <a:solidFill>
                  <a:srgbClr val="000000"/>
                </a:solidFill>
                <a:latin typeface="Arial"/>
              </a:rPr>
              <a:t>Unit 1 introduces projects, maps, panes, data, navigation, selection, joins, labels, and symbology. Unit 2 introduces editing.</a:t>
            </a:r>
            <a:endParaRPr lang="en-US" sz="2200"/>
          </a:p>
        </p:txBody>
      </p:sp>
      <p:sp>
        <p:nvSpPr>
          <p:cNvPr id="8" name="D2 text"/>
          <p:cNvSpPr txBox="1"/>
          <p:nvPr/>
        </p:nvSpPr>
        <p:spPr>
          <a:xfrm>
            <a:off x="3657600" y="2000250"/>
            <a:ext cx="2095500" cy="2476500"/>
          </a:xfrm>
          <a:prstGeom prst="rect">
            <a:avLst/>
          </a:prstGeom>
          <a:noFill/>
          <a:ln>
            <a:noFill/>
          </a:ln>
        </p:spPr>
        <p:txBody>
          <a:bodyPr wrap="square" anchor="t"/>
          <a:lstStyle/>
          <a:p>
            <a:pPr algn="l"/>
            <a:r>
              <a:rPr lang="en-US" sz="2200" b="1">
                <a:solidFill>
                  <a:srgbClr val="000000"/>
                </a:solidFill>
                <a:latin typeface="Arial"/>
              </a:rPr>
              <a:t>Day 2</a:t>
            </a:r>
            <a:endParaRPr lang="en-US" sz="2200"/>
          </a:p>
          <a:p>
            <a:pPr algn="l"/>
            <a:r>
              <a:rPr lang="en-US" sz="2200" b="1">
                <a:solidFill>
                  <a:srgbClr val="000000"/>
                </a:solidFill>
                <a:latin typeface="Arial"/>
              </a:rPr>
              <a:t>Production workflows</a:t>
            </a:r>
            <a:endParaRPr lang="en-US" sz="2200"/>
          </a:p>
          <a:p>
            <a:pPr algn="l"/>
            <a:r>
              <a:rPr lang="en-US" sz="2200" b="1">
                <a:solidFill>
                  <a:srgbClr val="000000"/>
                </a:solidFill>
                <a:latin typeface="Arial"/>
              </a:rPr>
              <a:t>Units 3-5 cover layouts, map series, parcel fabric concepts, custom ribbons, and ArcGIS Pro Tasks.</a:t>
            </a:r>
            <a:endParaRPr lang="en-US" sz="2200"/>
          </a:p>
        </p:txBody>
      </p:sp>
      <p:sp>
        <p:nvSpPr>
          <p:cNvPr id="9" name="D3 text"/>
          <p:cNvSpPr txBox="1"/>
          <p:nvPr/>
        </p:nvSpPr>
        <p:spPr>
          <a:xfrm>
            <a:off x="6477000" y="2000250"/>
            <a:ext cx="2095500" cy="2476500"/>
          </a:xfrm>
          <a:prstGeom prst="rect">
            <a:avLst/>
          </a:prstGeom>
          <a:noFill/>
          <a:ln>
            <a:noFill/>
          </a:ln>
        </p:spPr>
        <p:txBody>
          <a:bodyPr wrap="square" anchor="t"/>
          <a:lstStyle/>
          <a:p>
            <a:pPr algn="l"/>
            <a:r>
              <a:rPr lang="en-US" sz="2200" b="1">
                <a:solidFill>
                  <a:srgbClr val="000000"/>
                </a:solidFill>
                <a:latin typeface="Arial"/>
              </a:rPr>
              <a:t>Day 3</a:t>
            </a:r>
            <a:endParaRPr lang="en-US" sz="2200"/>
          </a:p>
          <a:p>
            <a:pPr algn="l"/>
            <a:r>
              <a:rPr lang="en-US" sz="2200" b="1">
                <a:solidFill>
                  <a:srgbClr val="000000"/>
                </a:solidFill>
                <a:latin typeface="Arial"/>
              </a:rPr>
              <a:t>Plan Examination Compute</a:t>
            </a:r>
            <a:endParaRPr lang="en-US" sz="2200"/>
          </a:p>
          <a:p>
            <a:pPr algn="l"/>
            <a:r>
              <a:rPr lang="en-US" sz="2200" b="1">
                <a:solidFill>
                  <a:srgbClr val="000000"/>
                </a:solidFill>
                <a:latin typeface="Arial"/>
              </a:rPr>
              <a:t>Open the transaction, review documents, validate spatial data, correct evidence, and create review outputs.</a:t>
            </a:r>
            <a:endParaRPr lang="en-US" sz="2200"/>
          </a:p>
        </p:txBody>
      </p:sp>
      <p:sp>
        <p:nvSpPr>
          <p:cNvPr id="10" name="D4 text"/>
          <p:cNvSpPr txBox="1"/>
          <p:nvPr/>
        </p:nvSpPr>
        <p:spPr>
          <a:xfrm>
            <a:off x="9296400" y="2000250"/>
            <a:ext cx="2095500" cy="2476500"/>
          </a:xfrm>
          <a:prstGeom prst="rect">
            <a:avLst/>
          </a:prstGeom>
          <a:noFill/>
          <a:ln>
            <a:noFill/>
          </a:ln>
        </p:spPr>
        <p:txBody>
          <a:bodyPr wrap="square" anchor="t"/>
          <a:lstStyle/>
          <a:p>
            <a:pPr algn="l"/>
            <a:r>
              <a:rPr lang="en-US" sz="2200" b="1">
                <a:solidFill>
                  <a:srgbClr val="000000"/>
                </a:solidFill>
                <a:latin typeface="Arial"/>
              </a:rPr>
              <a:t>Day 4</a:t>
            </a:r>
            <a:endParaRPr lang="en-US" sz="2200"/>
          </a:p>
          <a:p>
            <a:pPr algn="l"/>
            <a:r>
              <a:rPr lang="en-US" sz="2200" b="1">
                <a:solidFill>
                  <a:srgbClr val="000000"/>
                </a:solidFill>
                <a:latin typeface="Arial"/>
              </a:rPr>
              <a:t>Compare and closeout</a:t>
            </a:r>
            <a:endParaRPr lang="en-US" sz="2200"/>
          </a:p>
          <a:p>
            <a:pPr algn="l"/>
            <a:r>
              <a:rPr lang="en-US" sz="2200" b="1">
                <a:solidFill>
                  <a:srgbClr val="000000"/>
                </a:solidFill>
                <a:latin typeface="Arial"/>
              </a:rPr>
              <a:t>Reconcile ownership evidence, retain findings, generate reports, and finalize the transaction stage.</a:t>
            </a:r>
            <a:endParaRPr lang="en-US" sz="2200"/>
          </a:p>
        </p:txBody>
      </p:sp>
      <p:sp>
        <p:nvSpPr>
          <p:cNvPr id="11"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Training path</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opening session connects the product, process, and transaction</a:t>
            </a:r>
            <a:endParaRPr lang="en-US" sz="3800"/>
          </a:p>
        </p:txBody>
      </p:sp>
      <p:sp>
        <p:nvSpPr>
          <p:cNvPr id="3" name="Agenda quote"/>
          <p:cNvSpPr/>
          <p:nvPr/>
        </p:nvSpPr>
        <p:spPr>
          <a:xfrm>
            <a:off x="742950" y="1809750"/>
            <a:ext cx="10668000" cy="1524000"/>
          </a:xfrm>
          <a:prstGeom prst="rect">
            <a:avLst/>
          </a:prstGeom>
          <a:solidFill>
            <a:srgbClr val="F4F4F4"/>
          </a:solidFill>
          <a:ln w="12700">
            <a:solidFill>
              <a:srgbClr val="B8BCC4"/>
            </a:solidFill>
          </a:ln>
        </p:spPr>
        <p:txBody>
          <a:bodyPr/>
          <a:lstStyle/>
          <a:p/>
        </p:txBody>
      </p:sp>
      <p:sp>
        <p:nvSpPr>
          <p:cNvPr id="4" name="Agenda copy"/>
          <p:cNvSpPr txBox="1"/>
          <p:nvPr/>
        </p:nvSpPr>
        <p:spPr>
          <a:xfrm>
            <a:off x="1066800" y="2076450"/>
            <a:ext cx="9886950" cy="876300"/>
          </a:xfrm>
          <a:prstGeom prst="rect">
            <a:avLst/>
          </a:prstGeom>
          <a:noFill/>
          <a:ln>
            <a:noFill/>
          </a:ln>
        </p:spPr>
        <p:txBody>
          <a:bodyPr wrap="square" anchor="t"/>
          <a:lstStyle/>
          <a:p>
            <a:pPr algn="l"/>
            <a:r>
              <a:rPr lang="en-US" sz="2400" b="1">
                <a:solidFill>
                  <a:srgbClr val="111111"/>
                </a:solidFill>
                <a:latin typeface="Arial"/>
              </a:rPr>
              <a:t>SMD Business Processes and Solution Overview</a:t>
            </a:r>
            <a:endParaRPr lang="en-US" sz="2400"/>
          </a:p>
          <a:p>
            <a:pPr algn="l"/>
            <a:r>
              <a:rPr lang="en-US" sz="2400" b="1">
                <a:solidFill>
                  <a:srgbClr val="111111"/>
                </a:solidFill>
                <a:latin typeface="Arial"/>
              </a:rPr>
              <a:t>Provides an overview of ArcGIS Pro and the Sidwell Plan Extension tools and illustrates how SMD transactions are processed within the ArcGIS Pro examination environment.</a:t>
            </a:r>
            <a:endParaRPr lang="en-US" sz="2400"/>
          </a:p>
        </p:txBody>
      </p:sp>
      <p:sp>
        <p:nvSpPr>
          <p:cNvPr id="5" name="Interpretation"/>
          <p:cNvSpPr txBox="1"/>
          <p:nvPr/>
        </p:nvSpPr>
        <p:spPr>
          <a:xfrm>
            <a:off x="857250" y="3905250"/>
            <a:ext cx="9810750" cy="1143000"/>
          </a:xfrm>
          <a:prstGeom prst="rect">
            <a:avLst/>
          </a:prstGeom>
          <a:noFill/>
          <a:ln>
            <a:noFill/>
          </a:ln>
        </p:spPr>
        <p:txBody>
          <a:bodyPr wrap="square" anchor="t"/>
          <a:lstStyle/>
          <a:p>
            <a:pPr algn="l"/>
            <a:r>
              <a:rPr lang="en-US" sz="2500">
                <a:solidFill>
                  <a:srgbClr val="333333"/>
                </a:solidFill>
                <a:latin typeface="Arial"/>
              </a:rPr>
              <a:t>This is the bridge: participants should understand not only where tools are located, but why the examination workflow has been redesigned around ArcGIS Pro, Enterprise layers, and structured transaction evidence.</a:t>
            </a:r>
            <a:endParaRPr lang="en-US" sz="2500"/>
          </a:p>
        </p:txBody>
      </p:sp>
      <p:cxnSp>
        <p:nvCxnSpPr>
          <p:cNvPr id="6" name="Rule"/>
          <p:cNvCxnSpPr/>
          <p:nvPr/>
        </p:nvCxnSpPr>
        <p:spPr>
          <a:xfrm>
            <a:off x="857250" y="3638550"/>
            <a:ext cx="9715500" cy="0"/>
          </a:xfrm>
          <a:prstGeom prst="line">
            <a:avLst/>
          </a:prstGeom>
          <a:ln w="25400">
            <a:solidFill>
              <a:srgbClr val="FF6B35"/>
            </a:solidFill>
          </a:ln>
        </p:spPr>
      </p:cxnSp>
      <p:sp>
        <p:nvSpPr>
          <p:cNvPr id="7"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Overview agenda framing</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ArcGIS Pro syllabus is organized into five hands-on units</a:t>
            </a:r>
            <a:endParaRPr lang="en-US" sz="3800"/>
          </a:p>
        </p:txBody>
      </p:sp>
      <p:sp>
        <p:nvSpPr>
          <p:cNvPr id="3" name="Panel 1"/>
          <p:cNvSpPr/>
          <p:nvPr/>
        </p:nvSpPr>
        <p:spPr>
          <a:xfrm>
            <a:off x="514350" y="1638300"/>
            <a:ext cx="2095500" cy="3762375"/>
          </a:xfrm>
          <a:prstGeom prst="rect">
            <a:avLst/>
          </a:prstGeom>
          <a:solidFill>
            <a:srgbClr val="F4F4F4"/>
          </a:solidFill>
          <a:ln w="12700">
            <a:solidFill>
              <a:srgbClr val="B8BCC4"/>
            </a:solidFill>
          </a:ln>
        </p:spPr>
        <p:txBody>
          <a:bodyPr/>
          <a:lstStyle/>
          <a:p/>
        </p:txBody>
      </p:sp>
      <p:sp>
        <p:nvSpPr>
          <p:cNvPr id="4" name="Panel 2"/>
          <p:cNvSpPr/>
          <p:nvPr/>
        </p:nvSpPr>
        <p:spPr>
          <a:xfrm>
            <a:off x="2876550" y="1638300"/>
            <a:ext cx="2095500" cy="3762375"/>
          </a:xfrm>
          <a:prstGeom prst="rect">
            <a:avLst/>
          </a:prstGeom>
          <a:solidFill>
            <a:srgbClr val="F4F4F4"/>
          </a:solidFill>
          <a:ln w="12700">
            <a:solidFill>
              <a:srgbClr val="B8BCC4"/>
            </a:solidFill>
          </a:ln>
        </p:spPr>
        <p:txBody>
          <a:bodyPr/>
          <a:lstStyle/>
          <a:p/>
        </p:txBody>
      </p:sp>
      <p:sp>
        <p:nvSpPr>
          <p:cNvPr id="5" name="Panel 3"/>
          <p:cNvSpPr/>
          <p:nvPr/>
        </p:nvSpPr>
        <p:spPr>
          <a:xfrm>
            <a:off x="5238750" y="1638300"/>
            <a:ext cx="2095500" cy="3762375"/>
          </a:xfrm>
          <a:prstGeom prst="rect">
            <a:avLst/>
          </a:prstGeom>
          <a:solidFill>
            <a:srgbClr val="F4F4F4"/>
          </a:solidFill>
          <a:ln w="12700">
            <a:solidFill>
              <a:srgbClr val="B8BCC4"/>
            </a:solidFill>
          </a:ln>
        </p:spPr>
        <p:txBody>
          <a:bodyPr/>
          <a:lstStyle/>
          <a:p/>
        </p:txBody>
      </p:sp>
      <p:sp>
        <p:nvSpPr>
          <p:cNvPr id="6" name="Panel 4"/>
          <p:cNvSpPr/>
          <p:nvPr/>
        </p:nvSpPr>
        <p:spPr>
          <a:xfrm>
            <a:off x="7600950" y="1638300"/>
            <a:ext cx="2095500" cy="3762375"/>
          </a:xfrm>
          <a:prstGeom prst="rect">
            <a:avLst/>
          </a:prstGeom>
          <a:solidFill>
            <a:srgbClr val="F4F4F4"/>
          </a:solidFill>
          <a:ln w="12700">
            <a:solidFill>
              <a:srgbClr val="B8BCC4"/>
            </a:solidFill>
          </a:ln>
        </p:spPr>
        <p:txBody>
          <a:bodyPr/>
          <a:lstStyle/>
          <a:p/>
        </p:txBody>
      </p:sp>
      <p:sp>
        <p:nvSpPr>
          <p:cNvPr id="7" name="Panel 5"/>
          <p:cNvSpPr/>
          <p:nvPr/>
        </p:nvSpPr>
        <p:spPr>
          <a:xfrm>
            <a:off x="9963150" y="1638300"/>
            <a:ext cx="1714500" cy="3762375"/>
          </a:xfrm>
          <a:prstGeom prst="rect">
            <a:avLst/>
          </a:prstGeom>
          <a:solidFill>
            <a:srgbClr val="F4F4F4"/>
          </a:solidFill>
          <a:ln w="12700">
            <a:solidFill>
              <a:srgbClr val="B8BCC4"/>
            </a:solidFill>
          </a:ln>
        </p:spPr>
        <p:txBody>
          <a:bodyPr/>
          <a:lstStyle/>
          <a:p/>
        </p:txBody>
      </p:sp>
      <p:sp>
        <p:nvSpPr>
          <p:cNvPr id="8" name="Panel 1 text"/>
          <p:cNvSpPr txBox="1"/>
          <p:nvPr/>
        </p:nvSpPr>
        <p:spPr>
          <a:xfrm>
            <a:off x="723900" y="1981200"/>
            <a:ext cx="1676400" cy="2667000"/>
          </a:xfrm>
          <a:prstGeom prst="rect">
            <a:avLst/>
          </a:prstGeom>
          <a:noFill/>
          <a:ln>
            <a:noFill/>
          </a:ln>
        </p:spPr>
        <p:txBody>
          <a:bodyPr wrap="square" anchor="t"/>
          <a:lstStyle/>
          <a:p>
            <a:pPr algn="l"/>
            <a:r>
              <a:rPr lang="en-US" sz="1800" b="1">
                <a:solidFill>
                  <a:srgbClr val="111111"/>
                </a:solidFill>
                <a:latin typeface="Arial"/>
              </a:rPr>
              <a:t>Unit 1</a:t>
            </a:r>
            <a:endParaRPr lang="en-US" sz="1800"/>
          </a:p>
          <a:p>
            <a:pPr algn="l"/>
            <a:r>
              <a:rPr lang="en-US" sz="1800" b="1">
                <a:solidFill>
                  <a:srgbClr val="111111"/>
                </a:solidFill>
                <a:latin typeface="Arial"/>
              </a:rPr>
              <a:t>Introduction to ArcGIS Pro</a:t>
            </a:r>
            <a:endParaRPr lang="en-US" sz="1800"/>
          </a:p>
          <a:p>
            <a:pPr algn="l"/>
            <a:r>
              <a:rPr lang="en-US" sz="1800" b="1">
                <a:solidFill>
                  <a:srgbClr val="111111"/>
                </a:solidFill>
                <a:latin typeface="Arial"/>
              </a:rPr>
              <a:t>Project creation, Catalog, Contents, data loading, navigation, measurements, selections, joins, labels, and symbology.</a:t>
            </a:r>
            <a:endParaRPr lang="en-US" sz="1800"/>
          </a:p>
        </p:txBody>
      </p:sp>
      <p:sp>
        <p:nvSpPr>
          <p:cNvPr id="9" name="Panel 2 text"/>
          <p:cNvSpPr txBox="1"/>
          <p:nvPr/>
        </p:nvSpPr>
        <p:spPr>
          <a:xfrm>
            <a:off x="3086100" y="1981200"/>
            <a:ext cx="1676400" cy="2667000"/>
          </a:xfrm>
          <a:prstGeom prst="rect">
            <a:avLst/>
          </a:prstGeom>
          <a:noFill/>
          <a:ln>
            <a:noFill/>
          </a:ln>
        </p:spPr>
        <p:txBody>
          <a:bodyPr wrap="square" anchor="t"/>
          <a:lstStyle/>
          <a:p>
            <a:pPr algn="l"/>
            <a:r>
              <a:rPr lang="en-US" sz="1800" b="1">
                <a:solidFill>
                  <a:srgbClr val="111111"/>
                </a:solidFill>
                <a:latin typeface="Arial"/>
              </a:rPr>
              <a:t>Unit 2</a:t>
            </a:r>
            <a:endParaRPr lang="en-US" sz="1800"/>
          </a:p>
          <a:p>
            <a:pPr algn="l"/>
            <a:r>
              <a:rPr lang="en-US" sz="1800" b="1">
                <a:solidFill>
                  <a:srgbClr val="111111"/>
                </a:solidFill>
                <a:latin typeface="Arial"/>
              </a:rPr>
              <a:t>Editing in ArcGIS Pro</a:t>
            </a:r>
            <a:endParaRPr lang="en-US" sz="1800"/>
          </a:p>
          <a:p>
            <a:pPr algn="l"/>
            <a:r>
              <a:rPr lang="en-US" sz="1800" b="1">
                <a:solidFill>
                  <a:srgbClr val="111111"/>
                </a:solidFill>
                <a:latin typeface="Arial"/>
              </a:rPr>
              <a:t>Edit tools, line work, attributes, polygons, traverse, copying, moving, and quality-aware edit habits.</a:t>
            </a:r>
            <a:endParaRPr lang="en-US" sz="1800"/>
          </a:p>
        </p:txBody>
      </p:sp>
      <p:sp>
        <p:nvSpPr>
          <p:cNvPr id="10" name="Panel 3 text"/>
          <p:cNvSpPr txBox="1"/>
          <p:nvPr/>
        </p:nvSpPr>
        <p:spPr>
          <a:xfrm>
            <a:off x="5448300" y="1981200"/>
            <a:ext cx="1676400" cy="2667000"/>
          </a:xfrm>
          <a:prstGeom prst="rect">
            <a:avLst/>
          </a:prstGeom>
          <a:noFill/>
          <a:ln>
            <a:noFill/>
          </a:ln>
        </p:spPr>
        <p:txBody>
          <a:bodyPr wrap="square" anchor="t"/>
          <a:lstStyle/>
          <a:p>
            <a:pPr algn="l"/>
            <a:r>
              <a:rPr lang="en-US" sz="1800" b="1">
                <a:solidFill>
                  <a:srgbClr val="111111"/>
                </a:solidFill>
                <a:latin typeface="Arial"/>
              </a:rPr>
              <a:t>Unit 3</a:t>
            </a:r>
            <a:endParaRPr lang="en-US" sz="1800"/>
          </a:p>
          <a:p>
            <a:pPr algn="l"/>
            <a:r>
              <a:rPr lang="en-US" sz="1800" b="1">
                <a:solidFill>
                  <a:srgbClr val="111111"/>
                </a:solidFill>
                <a:latin typeface="Arial"/>
              </a:rPr>
              <a:t>Layouts</a:t>
            </a:r>
            <a:endParaRPr lang="en-US" sz="1800"/>
          </a:p>
          <a:p>
            <a:pPr algn="l"/>
            <a:r>
              <a:rPr lang="en-US" sz="1800" b="1">
                <a:solidFill>
                  <a:srgbClr val="111111"/>
                </a:solidFill>
                <a:latin typeface="Arial"/>
              </a:rPr>
              <a:t>Map layouts, map frames, scale, north arrow, scale bar, images, map series, and export-ready outputs.</a:t>
            </a:r>
            <a:endParaRPr lang="en-US" sz="1800"/>
          </a:p>
        </p:txBody>
      </p:sp>
      <p:sp>
        <p:nvSpPr>
          <p:cNvPr id="11" name="Panel 4 text"/>
          <p:cNvSpPr txBox="1"/>
          <p:nvPr/>
        </p:nvSpPr>
        <p:spPr>
          <a:xfrm>
            <a:off x="7810500" y="1981200"/>
            <a:ext cx="1676400" cy="2667000"/>
          </a:xfrm>
          <a:prstGeom prst="rect">
            <a:avLst/>
          </a:prstGeom>
          <a:noFill/>
          <a:ln>
            <a:noFill/>
          </a:ln>
        </p:spPr>
        <p:txBody>
          <a:bodyPr wrap="square" anchor="t"/>
          <a:lstStyle/>
          <a:p>
            <a:pPr algn="l"/>
            <a:r>
              <a:rPr lang="en-US" sz="1800" b="1">
                <a:solidFill>
                  <a:srgbClr val="111111"/>
                </a:solidFill>
                <a:latin typeface="Arial"/>
              </a:rPr>
              <a:t>Unit 4</a:t>
            </a:r>
            <a:endParaRPr lang="en-US" sz="1800"/>
          </a:p>
          <a:p>
            <a:pPr algn="l"/>
            <a:r>
              <a:rPr lang="en-US" sz="1800" b="1">
                <a:solidFill>
                  <a:srgbClr val="111111"/>
                </a:solidFill>
                <a:latin typeface="Arial"/>
              </a:rPr>
              <a:t>Parcel Fabric</a:t>
            </a:r>
            <a:endParaRPr lang="en-US" sz="1800"/>
          </a:p>
          <a:p>
            <a:pPr algn="l"/>
            <a:r>
              <a:rPr lang="en-US" sz="1800" b="1">
                <a:solidFill>
                  <a:srgbClr val="111111"/>
                </a:solidFill>
                <a:latin typeface="Arial"/>
              </a:rPr>
              <a:t>Conceptual introduction to parcel fabric layers, records, topology, workflows, and branch versioning.</a:t>
            </a:r>
            <a:endParaRPr lang="en-US" sz="1800"/>
          </a:p>
        </p:txBody>
      </p:sp>
      <p:sp>
        <p:nvSpPr>
          <p:cNvPr id="12" name="Panel 5 text"/>
          <p:cNvSpPr txBox="1"/>
          <p:nvPr/>
        </p:nvSpPr>
        <p:spPr>
          <a:xfrm>
            <a:off x="10153650" y="1981200"/>
            <a:ext cx="1314450" cy="2667000"/>
          </a:xfrm>
          <a:prstGeom prst="rect">
            <a:avLst/>
          </a:prstGeom>
          <a:noFill/>
          <a:ln>
            <a:noFill/>
          </a:ln>
        </p:spPr>
        <p:txBody>
          <a:bodyPr wrap="square" anchor="t"/>
          <a:lstStyle/>
          <a:p>
            <a:pPr algn="l"/>
            <a:r>
              <a:rPr lang="en-US" sz="1800" b="1">
                <a:solidFill>
                  <a:srgbClr val="111111"/>
                </a:solidFill>
                <a:latin typeface="Arial"/>
              </a:rPr>
              <a:t>Unit 5</a:t>
            </a:r>
            <a:endParaRPr lang="en-US" sz="1800"/>
          </a:p>
          <a:p>
            <a:pPr algn="l"/>
            <a:r>
              <a:rPr lang="en-US" sz="1800" b="1">
                <a:solidFill>
                  <a:srgbClr val="111111"/>
                </a:solidFill>
                <a:latin typeface="Arial"/>
              </a:rPr>
              <a:t>Customizations and Tasks</a:t>
            </a:r>
            <a:endParaRPr lang="en-US" sz="1800"/>
          </a:p>
          <a:p>
            <a:pPr algn="l"/>
            <a:r>
              <a:rPr lang="en-US" sz="1800" b="1">
                <a:solidFill>
                  <a:srgbClr val="111111"/>
                </a:solidFill>
                <a:latin typeface="Arial"/>
              </a:rPr>
              <a:t>Quick Access Toolbar, custom ribbons, task execution, and task design.</a:t>
            </a:r>
            <a:endParaRPr lang="en-US" sz="1800"/>
          </a:p>
        </p:txBody>
      </p:sp>
      <p:sp>
        <p:nvSpPr>
          <p:cNvPr id="9"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ArcGIS Pro foundation</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1 focuses on confidence in the ArcGIS Pro workspace</a:t>
            </a:r>
            <a:endParaRPr lang="en-US" sz="3800"/>
          </a:p>
        </p:txBody>
      </p:sp>
      <p:sp>
        <p:nvSpPr>
          <p:cNvPr id="3" name="Left"/>
          <p:cNvSpPr txBox="1"/>
          <p:nvPr/>
        </p:nvSpPr>
        <p:spPr>
          <a:xfrm>
            <a:off x="590550" y="1638300"/>
            <a:ext cx="4191000" cy="3524250"/>
          </a:xfrm>
          <a:prstGeom prst="rect">
            <a:avLst/>
          </a:prstGeom>
          <a:noFill/>
          <a:ln>
            <a:noFill/>
          </a:ln>
        </p:spPr>
        <p:txBody>
          <a:bodyPr wrap="square" anchor="t"/>
          <a:lstStyle/>
          <a:p>
            <a:pPr algn="l"/>
            <a:r>
              <a:rPr lang="en-US" sz="2100">
                <a:solidFill>
                  <a:srgbClr val="111111"/>
                </a:solidFill>
                <a:latin typeface="Arial"/>
              </a:rPr>
              <a:t>Core topics from Unit 1</a:t>
            </a:r>
            <a:endParaRPr lang="en-US" sz="2100"/>
          </a:p>
          <a:p>
            <a:pPr algn="l"/>
            <a:r>
              <a:rPr lang="en-US" sz="2100">
                <a:solidFill>
                  <a:srgbClr val="111111"/>
                </a:solidFill>
                <a:latin typeface="Arial"/>
              </a:rPr>
              <a:t>- Create a new project and save it</a:t>
            </a:r>
            <a:endParaRPr lang="en-US" sz="2100"/>
          </a:p>
          <a:p>
            <a:pPr algn="l"/>
            <a:r>
              <a:rPr lang="en-US" sz="2100">
                <a:solidFill>
                  <a:srgbClr val="111111"/>
                </a:solidFill>
                <a:latin typeface="Arial"/>
              </a:rPr>
              <a:t>- Use Catalog, Contents, folders, favorites, and geodatabases</a:t>
            </a:r>
            <a:endParaRPr lang="en-US" sz="2100"/>
          </a:p>
          <a:p>
            <a:pPr algn="l"/>
            <a:r>
              <a:rPr lang="en-US" sz="2100">
                <a:solidFill>
                  <a:srgbClr val="111111"/>
                </a:solidFill>
                <a:latin typeface="Arial"/>
              </a:rPr>
              <a:t>- Add parish and parcel data to a map</a:t>
            </a:r>
            <a:endParaRPr lang="en-US" sz="2100"/>
          </a:p>
          <a:p>
            <a:pPr algn="l"/>
            <a:r>
              <a:rPr lang="en-US" sz="2100">
                <a:solidFill>
                  <a:srgbClr val="111111"/>
                </a:solidFill>
                <a:latin typeface="Arial"/>
              </a:rPr>
              <a:t>- Set definition queries and rename/reorder layers</a:t>
            </a:r>
            <a:endParaRPr lang="en-US" sz="2100"/>
          </a:p>
          <a:p>
            <a:pPr algn="l"/>
            <a:r>
              <a:rPr lang="en-US" sz="2100">
                <a:solidFill>
                  <a:srgbClr val="111111"/>
                </a:solidFill>
                <a:latin typeface="Arial"/>
              </a:rPr>
              <a:t>- Navigate, locate parcels, measure, select, join, label, and symbolize</a:t>
            </a:r>
            <a:endParaRPr lang="en-US" sz="2100"/>
          </a:p>
        </p:txBody>
      </p:sp>
      <p:sp>
        <p:nvSpPr>
          <p:cNvPr id="4" name="Right panel"/>
          <p:cNvSpPr/>
          <p:nvPr/>
        </p:nvSpPr>
        <p:spPr>
          <a:xfrm>
            <a:off x="5524500" y="1619250"/>
            <a:ext cx="5715000" cy="3429000"/>
          </a:xfrm>
          <a:prstGeom prst="rect">
            <a:avLst/>
          </a:prstGeom>
          <a:solidFill>
            <a:srgbClr val="F4F4F4"/>
          </a:solidFill>
          <a:ln w="12700">
            <a:solidFill>
              <a:srgbClr val="B8BCC4"/>
            </a:solidFill>
          </a:ln>
        </p:spPr>
        <p:txBody>
          <a:bodyPr/>
          <a:lstStyle/>
          <a:p/>
        </p:txBody>
      </p:sp>
      <p:sp>
        <p:nvSpPr>
          <p:cNvPr id="5" name="Right"/>
          <p:cNvSpPr txBox="1"/>
          <p:nvPr/>
        </p:nvSpPr>
        <p:spPr>
          <a:xfrm>
            <a:off x="5905500" y="2095500"/>
            <a:ext cx="4953000" cy="2286000"/>
          </a:xfrm>
          <a:prstGeom prst="rect">
            <a:avLst/>
          </a:prstGeom>
          <a:noFill/>
          <a:ln>
            <a:noFill/>
          </a:ln>
        </p:spPr>
        <p:txBody>
          <a:bodyPr wrap="square" anchor="t"/>
          <a:lstStyle/>
          <a:p>
            <a:pPr algn="l"/>
            <a:r>
              <a:rPr lang="en-US" sz="2700" b="1">
                <a:solidFill>
                  <a:srgbClr val="111111"/>
                </a:solidFill>
                <a:latin typeface="Arial"/>
              </a:rPr>
              <a:t>Participant outcome</a:t>
            </a:r>
            <a:endParaRPr lang="en-US" sz="2700"/>
          </a:p>
          <a:p>
            <a:pPr algn="l"/>
            <a:r>
              <a:rPr lang="en-US" sz="2700" b="1">
                <a:solidFill>
                  <a:srgbClr val="111111"/>
                </a:solidFill>
                <a:latin typeface="Arial"/>
              </a:rPr>
              <a:t>By the end of the first block, participants should be comfortable opening ArcGIS Pro, managing project resources, reading parcel layers, and using the basic map, table, and selection tools needed for examination work.</a:t>
            </a:r>
            <a:endParaRPr lang="en-US" sz="2700"/>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1</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2 turns Pro familiarity into parcel production habits</a:t>
            </a:r>
            <a:endParaRPr lang="en-US" sz="3800"/>
          </a:p>
        </p:txBody>
      </p:sp>
      <p:sp>
        <p:nvSpPr>
          <p:cNvPr id="3" name="One"/>
          <p:cNvSpPr/>
          <p:nvPr/>
        </p:nvSpPr>
        <p:spPr>
          <a:xfrm>
            <a:off x="647700" y="1714500"/>
            <a:ext cx="2381250" cy="3143250"/>
          </a:xfrm>
          <a:prstGeom prst="rect">
            <a:avLst/>
          </a:prstGeom>
          <a:solidFill>
            <a:srgbClr val="F4F4F4"/>
          </a:solidFill>
          <a:ln w="12700">
            <a:solidFill>
              <a:srgbClr val="B8BCC4"/>
            </a:solidFill>
          </a:ln>
        </p:spPr>
        <p:txBody>
          <a:bodyPr/>
          <a:lstStyle/>
          <a:p/>
        </p:txBody>
      </p:sp>
      <p:sp>
        <p:nvSpPr>
          <p:cNvPr id="4" name="Two"/>
          <p:cNvSpPr/>
          <p:nvPr/>
        </p:nvSpPr>
        <p:spPr>
          <a:xfrm>
            <a:off x="3562350" y="1714500"/>
            <a:ext cx="2381250" cy="3143250"/>
          </a:xfrm>
          <a:prstGeom prst="rect">
            <a:avLst/>
          </a:prstGeom>
          <a:solidFill>
            <a:srgbClr val="F4F4F4"/>
          </a:solidFill>
          <a:ln w="12700">
            <a:solidFill>
              <a:srgbClr val="B8BCC4"/>
            </a:solidFill>
          </a:ln>
        </p:spPr>
        <p:txBody>
          <a:bodyPr/>
          <a:lstStyle/>
          <a:p/>
        </p:txBody>
      </p:sp>
      <p:sp>
        <p:nvSpPr>
          <p:cNvPr id="5" name="Three"/>
          <p:cNvSpPr/>
          <p:nvPr/>
        </p:nvSpPr>
        <p:spPr>
          <a:xfrm>
            <a:off x="6477000" y="1714500"/>
            <a:ext cx="2381250" cy="3143250"/>
          </a:xfrm>
          <a:prstGeom prst="rect">
            <a:avLst/>
          </a:prstGeom>
          <a:solidFill>
            <a:srgbClr val="F4F4F4"/>
          </a:solidFill>
          <a:ln w="12700">
            <a:solidFill>
              <a:srgbClr val="B8BCC4"/>
            </a:solidFill>
          </a:ln>
        </p:spPr>
        <p:txBody>
          <a:bodyPr/>
          <a:lstStyle/>
          <a:p/>
        </p:txBody>
      </p:sp>
      <p:sp>
        <p:nvSpPr>
          <p:cNvPr id="6" name="Four"/>
          <p:cNvSpPr/>
          <p:nvPr/>
        </p:nvSpPr>
        <p:spPr>
          <a:xfrm>
            <a:off x="9391650" y="1714500"/>
            <a:ext cx="2095500" cy="3143250"/>
          </a:xfrm>
          <a:prstGeom prst="rect">
            <a:avLst/>
          </a:prstGeom>
          <a:solidFill>
            <a:srgbClr val="F4F4F4"/>
          </a:solidFill>
          <a:ln w="12700">
            <a:solidFill>
              <a:srgbClr val="B8BCC4"/>
            </a:solidFill>
          </a:ln>
        </p:spPr>
        <p:txBody>
          <a:bodyPr/>
          <a:lstStyle/>
          <a:p/>
        </p:txBody>
      </p:sp>
      <p:sp>
        <p:nvSpPr>
          <p:cNvPr id="7" name="One text"/>
          <p:cNvSpPr txBox="1"/>
          <p:nvPr/>
        </p:nvSpPr>
        <p:spPr>
          <a:xfrm>
            <a:off x="895350" y="2095500"/>
            <a:ext cx="1905000" cy="2190750"/>
          </a:xfrm>
          <a:prstGeom prst="rect">
            <a:avLst/>
          </a:prstGeom>
          <a:noFill/>
          <a:ln>
            <a:noFill/>
          </a:ln>
        </p:spPr>
        <p:txBody>
          <a:bodyPr wrap="square" anchor="t"/>
          <a:lstStyle/>
          <a:p>
            <a:pPr algn="l"/>
            <a:r>
              <a:rPr lang="en-US" sz="2200" b="1">
                <a:solidFill>
                  <a:srgbClr val="000000"/>
                </a:solidFill>
                <a:latin typeface="Arial"/>
              </a:rPr>
              <a:t>Edit</a:t>
            </a:r>
            <a:endParaRPr lang="en-US" sz="2200"/>
          </a:p>
          <a:p>
            <a:pPr algn="l"/>
            <a:r>
              <a:rPr lang="en-US" sz="2200" b="1">
                <a:solidFill>
                  <a:srgbClr val="000000"/>
                </a:solidFill>
                <a:latin typeface="Arial"/>
              </a:rPr>
              <a:t>Use Unit 2 to practice lines, attributes, polygons, traverse, copy, move, and mirror-style edit thinking.</a:t>
            </a:r>
            <a:endParaRPr lang="en-US" sz="2200"/>
          </a:p>
        </p:txBody>
      </p:sp>
      <p:sp>
        <p:nvSpPr>
          <p:cNvPr id="8" name="Two text"/>
          <p:cNvSpPr txBox="1"/>
          <p:nvPr/>
        </p:nvSpPr>
        <p:spPr>
          <a:xfrm>
            <a:off x="3810000" y="2095500"/>
            <a:ext cx="1905000" cy="2190750"/>
          </a:xfrm>
          <a:prstGeom prst="rect">
            <a:avLst/>
          </a:prstGeom>
          <a:noFill/>
          <a:ln>
            <a:noFill/>
          </a:ln>
        </p:spPr>
        <p:txBody>
          <a:bodyPr wrap="square" anchor="t"/>
          <a:lstStyle/>
          <a:p>
            <a:pPr algn="l"/>
            <a:r>
              <a:rPr lang="en-US" sz="2200" b="1">
                <a:solidFill>
                  <a:srgbClr val="000000"/>
                </a:solidFill>
                <a:latin typeface="Arial"/>
              </a:rPr>
              <a:t>Layout</a:t>
            </a:r>
            <a:endParaRPr lang="en-US" sz="2200"/>
          </a:p>
          <a:p>
            <a:pPr algn="l"/>
            <a:r>
              <a:rPr lang="en-US" sz="2200" b="1">
                <a:solidFill>
                  <a:srgbClr val="000000"/>
                </a:solidFill>
                <a:latin typeface="Arial"/>
              </a:rPr>
              <a:t>Use Unit 3 to prepare layouts, map frames, scale bars, north arrows, images, map series, and exports.</a:t>
            </a:r>
            <a:endParaRPr lang="en-US" sz="2200"/>
          </a:p>
        </p:txBody>
      </p:sp>
      <p:sp>
        <p:nvSpPr>
          <p:cNvPr id="9" name="Three text"/>
          <p:cNvSpPr txBox="1"/>
          <p:nvPr/>
        </p:nvSpPr>
        <p:spPr>
          <a:xfrm>
            <a:off x="6724650" y="2095500"/>
            <a:ext cx="1905000" cy="2190750"/>
          </a:xfrm>
          <a:prstGeom prst="rect">
            <a:avLst/>
          </a:prstGeom>
          <a:noFill/>
          <a:ln>
            <a:noFill/>
          </a:ln>
        </p:spPr>
        <p:txBody>
          <a:bodyPr wrap="square" anchor="t"/>
          <a:lstStyle/>
          <a:p>
            <a:pPr algn="l"/>
            <a:r>
              <a:rPr lang="en-US" sz="2200" b="1">
                <a:solidFill>
                  <a:srgbClr val="000000"/>
                </a:solidFill>
                <a:latin typeface="Arial"/>
              </a:rPr>
              <a:t>Parcel fabric</a:t>
            </a:r>
            <a:endParaRPr lang="en-US" sz="2200"/>
          </a:p>
          <a:p>
            <a:pPr algn="l"/>
            <a:r>
              <a:rPr lang="en-US" sz="2200" b="1">
                <a:solidFill>
                  <a:srgbClr val="000000"/>
                </a:solidFill>
                <a:latin typeface="Arial"/>
              </a:rPr>
              <a:t>Use Unit 4 to introduce parcel fabric concepts, records, topology, workflows, and branch versioning.</a:t>
            </a:r>
            <a:endParaRPr lang="en-US" sz="2200"/>
          </a:p>
        </p:txBody>
      </p:sp>
      <p:sp>
        <p:nvSpPr>
          <p:cNvPr id="10" name="Four text"/>
          <p:cNvSpPr txBox="1"/>
          <p:nvPr/>
        </p:nvSpPr>
        <p:spPr>
          <a:xfrm>
            <a:off x="9639300" y="2095500"/>
            <a:ext cx="1619250" cy="2190750"/>
          </a:xfrm>
          <a:prstGeom prst="rect">
            <a:avLst/>
          </a:prstGeom>
          <a:noFill/>
          <a:ln>
            <a:noFill/>
          </a:ln>
        </p:spPr>
        <p:txBody>
          <a:bodyPr wrap="square" anchor="t"/>
          <a:lstStyle/>
          <a:p>
            <a:pPr algn="l"/>
            <a:r>
              <a:rPr lang="en-US" sz="2200" b="1">
                <a:solidFill>
                  <a:srgbClr val="000000"/>
                </a:solidFill>
                <a:latin typeface="Arial"/>
              </a:rPr>
              <a:t>Tasks</a:t>
            </a:r>
            <a:endParaRPr lang="en-US" sz="2200"/>
          </a:p>
          <a:p>
            <a:pPr algn="l"/>
            <a:r>
              <a:rPr lang="en-US" sz="2200" b="1">
                <a:solidFill>
                  <a:srgbClr val="000000"/>
                </a:solidFill>
                <a:latin typeface="Arial"/>
              </a:rPr>
              <a:t>Use Unit 5 to connect Pro customization and Tasks to guided examination work.</a:t>
            </a:r>
            <a:endParaRPr lang="en-US" sz="2200"/>
          </a:p>
        </p:txBody>
      </p:sp>
      <p:sp>
        <p:nvSpPr>
          <p:cNvPr id="11"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2</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Days 3 and 4 apply Pro skills to the Plan Examination transaction</a:t>
            </a:r>
            <a:endParaRPr lang="en-US" sz="3800"/>
          </a:p>
        </p:txBody>
      </p:sp>
      <p:cxnSp>
        <p:nvCxnSpPr>
          <p:cNvPr id="3" name="Workflow line"/>
          <p:cNvCxnSpPr/>
          <p:nvPr/>
        </p:nvCxnSpPr>
        <p:spPr>
          <a:xfrm>
            <a:off x="1143000" y="3429000"/>
            <a:ext cx="9906000" cy="0"/>
          </a:xfrm>
          <a:prstGeom prst="line">
            <a:avLst/>
          </a:prstGeom>
          <a:ln w="25400">
            <a:solidFill>
              <a:srgbClr val="B8BCC4"/>
            </a:solidFill>
          </a:ln>
        </p:spPr>
      </p:cxnSp>
      <p:sp>
        <p:nvSpPr>
          <p:cNvPr id="4" name="Step 1"/>
          <p:cNvSpPr/>
          <p:nvPr/>
        </p:nvSpPr>
        <p:spPr>
          <a:xfrm>
            <a:off x="857250" y="2686050"/>
            <a:ext cx="2000250" cy="1476375"/>
          </a:xfrm>
          <a:prstGeom prst="rect">
            <a:avLst/>
          </a:prstGeom>
          <a:solidFill>
            <a:srgbClr val="FFF2EA"/>
          </a:solidFill>
          <a:ln w="12700">
            <a:solidFill>
              <a:srgbClr val="FF6B35"/>
            </a:solidFill>
          </a:ln>
        </p:spPr>
        <p:txBody>
          <a:bodyPr/>
          <a:lstStyle/>
          <a:p/>
        </p:txBody>
      </p:sp>
      <p:sp>
        <p:nvSpPr>
          <p:cNvPr id="5" name="Step 2"/>
          <p:cNvSpPr/>
          <p:nvPr/>
        </p:nvSpPr>
        <p:spPr>
          <a:xfrm>
            <a:off x="3333750" y="2686050"/>
            <a:ext cx="2000250" cy="1476375"/>
          </a:xfrm>
          <a:prstGeom prst="rect">
            <a:avLst/>
          </a:prstGeom>
          <a:solidFill>
            <a:srgbClr val="FFF2EA"/>
          </a:solidFill>
          <a:ln w="12700">
            <a:solidFill>
              <a:srgbClr val="FF6B35"/>
            </a:solidFill>
          </a:ln>
        </p:spPr>
        <p:txBody>
          <a:bodyPr/>
          <a:lstStyle/>
          <a:p/>
        </p:txBody>
      </p:sp>
      <p:sp>
        <p:nvSpPr>
          <p:cNvPr id="6" name="Step 3"/>
          <p:cNvSpPr/>
          <p:nvPr/>
        </p:nvSpPr>
        <p:spPr>
          <a:xfrm>
            <a:off x="5810250" y="2686050"/>
            <a:ext cx="2000250" cy="1476375"/>
          </a:xfrm>
          <a:prstGeom prst="rect">
            <a:avLst/>
          </a:prstGeom>
          <a:solidFill>
            <a:srgbClr val="FFF2EA"/>
          </a:solidFill>
          <a:ln w="12700">
            <a:solidFill>
              <a:srgbClr val="FF6B35"/>
            </a:solidFill>
          </a:ln>
        </p:spPr>
        <p:txBody>
          <a:bodyPr/>
          <a:lstStyle/>
          <a:p/>
        </p:txBody>
      </p:sp>
      <p:sp>
        <p:nvSpPr>
          <p:cNvPr id="7" name="Step 4"/>
          <p:cNvSpPr/>
          <p:nvPr/>
        </p:nvSpPr>
        <p:spPr>
          <a:xfrm>
            <a:off x="8286750" y="2686050"/>
            <a:ext cx="2476500" cy="1476375"/>
          </a:xfrm>
          <a:prstGeom prst="rect">
            <a:avLst/>
          </a:prstGeom>
          <a:solidFill>
            <a:srgbClr val="FFF2EA"/>
          </a:solidFill>
          <a:ln w="12700">
            <a:solidFill>
              <a:srgbClr val="FF6B35"/>
            </a:solidFill>
          </a:ln>
        </p:spPr>
        <p:txBody>
          <a:bodyPr/>
          <a:lstStyle/>
          <a:p/>
        </p:txBody>
      </p:sp>
      <p:sp>
        <p:nvSpPr>
          <p:cNvPr id="8" name="Step 1 text"/>
          <p:cNvSpPr txBox="1"/>
          <p:nvPr/>
        </p:nvSpPr>
        <p:spPr>
          <a:xfrm>
            <a:off x="1066800" y="3000375"/>
            <a:ext cx="1571625" cy="685800"/>
          </a:xfrm>
          <a:prstGeom prst="rect">
            <a:avLst/>
          </a:prstGeom>
          <a:noFill/>
          <a:ln>
            <a:noFill/>
          </a:ln>
        </p:spPr>
        <p:txBody>
          <a:bodyPr wrap="square" anchor="t"/>
          <a:lstStyle/>
          <a:p>
            <a:pPr algn="l"/>
            <a:r>
              <a:rPr lang="en-US" sz="2000" b="1">
                <a:solidFill>
                  <a:srgbClr val="000000"/>
                </a:solidFill>
                <a:latin typeface="Arial"/>
              </a:rPr>
              <a:t>Load transaction</a:t>
            </a:r>
            <a:endParaRPr lang="en-US" sz="2000"/>
          </a:p>
          <a:p>
            <a:pPr algn="l"/>
            <a:r>
              <a:rPr lang="en-US" sz="2000" b="1">
                <a:solidFill>
                  <a:srgbClr val="000000"/>
                </a:solidFill>
                <a:latin typeface="Arial"/>
              </a:rPr>
              <a:t>Open the PE task and attached documents.</a:t>
            </a:r>
            <a:endParaRPr lang="en-US" sz="2000"/>
          </a:p>
        </p:txBody>
      </p:sp>
      <p:sp>
        <p:nvSpPr>
          <p:cNvPr id="9" name="Step 2 text"/>
          <p:cNvSpPr txBox="1"/>
          <p:nvPr/>
        </p:nvSpPr>
        <p:spPr>
          <a:xfrm>
            <a:off x="3543300" y="3000375"/>
            <a:ext cx="1571625" cy="685800"/>
          </a:xfrm>
          <a:prstGeom prst="rect">
            <a:avLst/>
          </a:prstGeom>
          <a:noFill/>
          <a:ln>
            <a:noFill/>
          </a:ln>
        </p:spPr>
        <p:txBody>
          <a:bodyPr wrap="square" anchor="t"/>
          <a:lstStyle/>
          <a:p>
            <a:pPr algn="l"/>
            <a:r>
              <a:rPr lang="en-US" sz="2000" b="1">
                <a:solidFill>
                  <a:srgbClr val="000000"/>
                </a:solidFill>
                <a:latin typeface="Arial"/>
              </a:rPr>
              <a:t>Compute</a:t>
            </a:r>
            <a:endParaRPr lang="en-US" sz="2000"/>
          </a:p>
          <a:p>
            <a:pPr algn="l"/>
            <a:r>
              <a:rPr lang="en-US" sz="2000" b="1">
                <a:solidFill>
                  <a:srgbClr val="000000"/>
                </a:solidFill>
                <a:latin typeface="Arial"/>
              </a:rPr>
              <a:t>Validate source evidence and spatial geometry.</a:t>
            </a:r>
            <a:endParaRPr lang="en-US" sz="2000"/>
          </a:p>
        </p:txBody>
      </p:sp>
      <p:sp>
        <p:nvSpPr>
          <p:cNvPr id="10" name="Step 3 text"/>
          <p:cNvSpPr txBox="1"/>
          <p:nvPr/>
        </p:nvSpPr>
        <p:spPr>
          <a:xfrm>
            <a:off x="6019800" y="3000375"/>
            <a:ext cx="1571625" cy="685800"/>
          </a:xfrm>
          <a:prstGeom prst="rect">
            <a:avLst/>
          </a:prstGeom>
          <a:noFill/>
          <a:ln>
            <a:noFill/>
          </a:ln>
        </p:spPr>
        <p:txBody>
          <a:bodyPr wrap="square" anchor="t"/>
          <a:lstStyle/>
          <a:p>
            <a:pPr algn="l"/>
            <a:r>
              <a:rPr lang="en-US" sz="2000" b="1">
                <a:solidFill>
                  <a:srgbClr val="000000"/>
                </a:solidFill>
                <a:latin typeface="Arial"/>
              </a:rPr>
              <a:t>Compare</a:t>
            </a:r>
            <a:endParaRPr lang="en-US" sz="2000"/>
          </a:p>
          <a:p>
            <a:pPr algn="l"/>
            <a:r>
              <a:rPr lang="en-US" sz="2000" b="1">
                <a:solidFill>
                  <a:srgbClr val="000000"/>
                </a:solidFill>
                <a:latin typeface="Arial"/>
              </a:rPr>
              <a:t>Reconcile ownership and cadastre evidence.</a:t>
            </a:r>
            <a:endParaRPr lang="en-US" sz="2000"/>
          </a:p>
        </p:txBody>
      </p:sp>
      <p:sp>
        <p:nvSpPr>
          <p:cNvPr id="11" name="Step 4 text"/>
          <p:cNvSpPr txBox="1"/>
          <p:nvPr/>
        </p:nvSpPr>
        <p:spPr>
          <a:xfrm>
            <a:off x="8524875" y="3000375"/>
            <a:ext cx="2047875" cy="685800"/>
          </a:xfrm>
          <a:prstGeom prst="rect">
            <a:avLst/>
          </a:prstGeom>
          <a:noFill/>
          <a:ln>
            <a:noFill/>
          </a:ln>
        </p:spPr>
        <p:txBody>
          <a:bodyPr wrap="square" anchor="t"/>
          <a:lstStyle/>
          <a:p>
            <a:pPr algn="l"/>
            <a:r>
              <a:rPr lang="en-US" sz="2000" b="1">
                <a:solidFill>
                  <a:srgbClr val="000000"/>
                </a:solidFill>
                <a:latin typeface="Arial"/>
              </a:rPr>
              <a:t>Finalize</a:t>
            </a:r>
            <a:endParaRPr lang="en-US" sz="2000"/>
          </a:p>
          <a:p>
            <a:pPr algn="l"/>
            <a:r>
              <a:rPr lang="en-US" sz="2000" b="1">
                <a:solidFill>
                  <a:srgbClr val="000000"/>
                </a:solidFill>
                <a:latin typeface="Arial"/>
              </a:rPr>
              <a:t>Generate reports and move to the next stage.</a:t>
            </a:r>
            <a:endParaRPr lang="en-US" sz="2000"/>
          </a:p>
        </p:txBody>
      </p:sp>
      <p:sp>
        <p:nvSpPr>
          <p:cNvPr id="12" name="Bottom"/>
          <p:cNvSpPr txBox="1"/>
          <p:nvPr/>
        </p:nvSpPr>
        <p:spPr>
          <a:xfrm>
            <a:off x="1047750" y="4762500"/>
            <a:ext cx="9334500" cy="666750"/>
          </a:xfrm>
          <a:prstGeom prst="rect">
            <a:avLst/>
          </a:prstGeom>
          <a:noFill/>
          <a:ln>
            <a:noFill/>
          </a:ln>
        </p:spPr>
        <p:txBody>
          <a:bodyPr wrap="square" anchor="t"/>
          <a:lstStyle/>
          <a:p>
            <a:pPr algn="l"/>
            <a:r>
              <a:rPr lang="en-US" sz="2400">
                <a:solidFill>
                  <a:srgbClr val="333333"/>
                </a:solidFill>
                <a:latin typeface="Arial"/>
              </a:rPr>
              <a:t>The Plan Examination training is scenario-led: participants follow a transaction through the same decision points they will use after go-live.</a:t>
            </a:r>
            <a:endParaRPr lang="en-US" sz="2400"/>
          </a:p>
        </p:txBody>
      </p:sp>
      <p:sp>
        <p:nvSpPr>
          <p:cNvPr id="13"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Plan Examination workflow</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3 teaches the Compute stage as evidence preparation</a:t>
            </a:r>
            <a:endParaRPr lang="en-US" sz="3800"/>
          </a:p>
        </p:txBody>
      </p:sp>
      <p:sp>
        <p:nvSpPr>
          <p:cNvPr id="3" name="Left copy"/>
          <p:cNvSpPr txBox="1"/>
          <p:nvPr/>
        </p:nvSpPr>
        <p:spPr>
          <a:xfrm>
            <a:off x="590550" y="1619250"/>
            <a:ext cx="4476750" cy="4000500"/>
          </a:xfrm>
          <a:prstGeom prst="rect">
            <a:avLst/>
          </a:prstGeom>
          <a:noFill/>
          <a:ln>
            <a:noFill/>
          </a:ln>
        </p:spPr>
        <p:txBody>
          <a:bodyPr wrap="square" anchor="t"/>
          <a:lstStyle/>
          <a:p>
            <a:pPr algn="l"/>
            <a:r>
              <a:rPr lang="en-US" sz="2200">
                <a:solidFill>
                  <a:srgbClr val="111111"/>
                </a:solidFill>
                <a:latin typeface="Arial"/>
              </a:rPr>
              <a:t>What participants practice</a:t>
            </a:r>
            <a:endParaRPr lang="en-US" sz="2200"/>
          </a:p>
          <a:p>
            <a:pPr algn="l"/>
            <a:r>
              <a:rPr lang="en-US" sz="2200">
                <a:solidFill>
                  <a:srgbClr val="111111"/>
                </a:solidFill>
                <a:latin typeface="Arial"/>
              </a:rPr>
              <a:t>- Select and open a Plan Examination transaction</a:t>
            </a:r>
            <a:endParaRPr lang="en-US" sz="2200"/>
          </a:p>
          <a:p>
            <a:pPr algn="l"/>
            <a:r>
              <a:rPr lang="en-US" sz="2200">
                <a:solidFill>
                  <a:srgbClr val="111111"/>
                </a:solidFill>
                <a:latin typeface="Arial"/>
              </a:rPr>
              <a:t>- Review attached survey plan documents</a:t>
            </a:r>
            <a:endParaRPr lang="en-US" sz="2200"/>
          </a:p>
          <a:p>
            <a:pPr algn="l"/>
            <a:r>
              <a:rPr lang="en-US" sz="2200">
                <a:solidFill>
                  <a:srgbClr val="111111"/>
                </a:solidFill>
                <a:latin typeface="Arial"/>
              </a:rPr>
              <a:t>- Understand supporting document, structure, georeference, and dimension checks</a:t>
            </a:r>
            <a:endParaRPr lang="en-US" sz="2200"/>
          </a:p>
          <a:p>
            <a:pPr algn="l"/>
            <a:r>
              <a:rPr lang="en-US" sz="2200">
                <a:solidFill>
                  <a:srgbClr val="111111"/>
                </a:solidFill>
                <a:latin typeface="Arial"/>
              </a:rPr>
              <a:t>- Validate extracted points and lines</a:t>
            </a:r>
            <a:endParaRPr lang="en-US" sz="2200"/>
          </a:p>
          <a:p>
            <a:pPr algn="l"/>
            <a:r>
              <a:rPr lang="en-US" sz="2200">
                <a:solidFill>
                  <a:srgbClr val="111111"/>
                </a:solidFill>
                <a:latin typeface="Arial"/>
              </a:rPr>
              <a:t>- Create spatial units and review generated outputs</a:t>
            </a:r>
            <a:endParaRPr lang="en-US" sz="2200"/>
          </a:p>
        </p:txBody>
      </p:sp>
      <p:sp>
        <p:nvSpPr>
          <p:cNvPr id="4" name="Right panel"/>
          <p:cNvSpPr/>
          <p:nvPr/>
        </p:nvSpPr>
        <p:spPr>
          <a:xfrm>
            <a:off x="5905500" y="1600200"/>
            <a:ext cx="5143500" cy="3810000"/>
          </a:xfrm>
          <a:prstGeom prst="rect">
            <a:avLst/>
          </a:prstGeom>
          <a:solidFill>
            <a:srgbClr val="F4F4F4"/>
          </a:solidFill>
          <a:ln w="12700">
            <a:solidFill>
              <a:srgbClr val="B8BCC4"/>
            </a:solidFill>
          </a:ln>
        </p:spPr>
        <p:txBody>
          <a:bodyPr/>
          <a:lstStyle/>
          <a:p/>
        </p:txBody>
      </p:sp>
      <p:sp>
        <p:nvSpPr>
          <p:cNvPr id="5" name="Right copy"/>
          <p:cNvSpPr txBox="1"/>
          <p:nvPr/>
        </p:nvSpPr>
        <p:spPr>
          <a:xfrm>
            <a:off x="6286500" y="2047875"/>
            <a:ext cx="4381500" cy="2428875"/>
          </a:xfrm>
          <a:prstGeom prst="rect">
            <a:avLst/>
          </a:prstGeom>
          <a:noFill/>
          <a:ln>
            <a:noFill/>
          </a:ln>
        </p:spPr>
        <p:txBody>
          <a:bodyPr wrap="square" anchor="t"/>
          <a:lstStyle/>
          <a:p>
            <a:pPr algn="l"/>
            <a:r>
              <a:rPr lang="en-US" sz="2700" b="1">
                <a:solidFill>
                  <a:srgbClr val="000000"/>
                </a:solidFill>
                <a:latin typeface="Arial"/>
              </a:rPr>
              <a:t>Compute is not just a checklist</a:t>
            </a:r>
            <a:endParaRPr lang="en-US" sz="2700"/>
          </a:p>
          <a:p>
            <a:pPr algn="l"/>
            <a:r>
              <a:rPr lang="en-US" sz="2700" b="1">
                <a:solidFill>
                  <a:srgbClr val="000000"/>
                </a:solidFill>
                <a:latin typeface="Arial"/>
              </a:rPr>
              <a:t>It turns source documents and extracted geometry into a defensible spatial review package. The examiner learns when to trust extraction, when to correct it, and when a blocker must remain visible.</a:t>
            </a:r>
            <a:endParaRPr lang="en-US" sz="2700"/>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3</a:t>
            </a:r>
            <a:endParaRPr 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4 teaches Compare as evidence reconciliation</a:t>
            </a:r>
            <a:endParaRPr lang="en-US" sz="3800"/>
          </a:p>
        </p:txBody>
      </p:sp>
      <p:sp>
        <p:nvSpPr>
          <p:cNvPr id="3" name="Left"/>
          <p:cNvSpPr/>
          <p:nvPr/>
        </p:nvSpPr>
        <p:spPr>
          <a:xfrm>
            <a:off x="647700" y="1676400"/>
            <a:ext cx="3333750" cy="3619500"/>
          </a:xfrm>
          <a:prstGeom prst="rect">
            <a:avLst/>
          </a:prstGeom>
          <a:solidFill>
            <a:srgbClr val="F4F4F4"/>
          </a:solidFill>
          <a:ln w="12700">
            <a:solidFill>
              <a:srgbClr val="B8BCC4"/>
            </a:solidFill>
          </a:ln>
        </p:spPr>
        <p:txBody>
          <a:bodyPr/>
          <a:lstStyle/>
          <a:p/>
        </p:txBody>
      </p:sp>
      <p:sp>
        <p:nvSpPr>
          <p:cNvPr id="4" name="Center"/>
          <p:cNvSpPr/>
          <p:nvPr/>
        </p:nvSpPr>
        <p:spPr>
          <a:xfrm>
            <a:off x="4438650" y="1676400"/>
            <a:ext cx="3333750" cy="3619500"/>
          </a:xfrm>
          <a:prstGeom prst="rect">
            <a:avLst/>
          </a:prstGeom>
          <a:solidFill>
            <a:srgbClr val="F4F4F4"/>
          </a:solidFill>
          <a:ln w="12700">
            <a:solidFill>
              <a:srgbClr val="B8BCC4"/>
            </a:solidFill>
          </a:ln>
        </p:spPr>
        <p:txBody>
          <a:bodyPr/>
          <a:lstStyle/>
          <a:p/>
        </p:txBody>
      </p:sp>
      <p:sp>
        <p:nvSpPr>
          <p:cNvPr id="5" name="Right"/>
          <p:cNvSpPr/>
          <p:nvPr/>
        </p:nvSpPr>
        <p:spPr>
          <a:xfrm>
            <a:off x="8229600" y="1676400"/>
            <a:ext cx="3333750" cy="3619500"/>
          </a:xfrm>
          <a:prstGeom prst="rect">
            <a:avLst/>
          </a:prstGeom>
          <a:solidFill>
            <a:srgbClr val="F4F4F4"/>
          </a:solidFill>
          <a:ln w="12700">
            <a:solidFill>
              <a:srgbClr val="B8BCC4"/>
            </a:solidFill>
          </a:ln>
        </p:spPr>
        <p:txBody>
          <a:bodyPr/>
          <a:lstStyle/>
          <a:p/>
        </p:txBody>
      </p:sp>
      <p:sp>
        <p:nvSpPr>
          <p:cNvPr id="6" name="Left text"/>
          <p:cNvSpPr txBox="1"/>
          <p:nvPr/>
        </p:nvSpPr>
        <p:spPr>
          <a:xfrm>
            <a:off x="933450" y="2047875"/>
            <a:ext cx="2762250" cy="2428875"/>
          </a:xfrm>
          <a:prstGeom prst="rect">
            <a:avLst/>
          </a:prstGeom>
          <a:noFill/>
          <a:ln>
            <a:noFill/>
          </a:ln>
        </p:spPr>
        <p:txBody>
          <a:bodyPr wrap="square" anchor="t"/>
          <a:lstStyle/>
          <a:p>
            <a:pPr algn="l"/>
            <a:r>
              <a:rPr lang="en-US" sz="2400" b="1">
                <a:solidFill>
                  <a:srgbClr val="000000"/>
                </a:solidFill>
                <a:latin typeface="Arial"/>
              </a:rPr>
              <a:t>Evidence sources</a:t>
            </a:r>
            <a:endParaRPr lang="en-US" sz="2400"/>
          </a:p>
          <a:p>
            <a:pPr algn="l"/>
            <a:r>
              <a:rPr lang="en-US" sz="2400" b="1">
                <a:solidFill>
                  <a:srgbClr val="000000"/>
                </a:solidFill>
                <a:latin typeface="Arial"/>
              </a:rPr>
              <a:t>Survey plan PDF, working_review geometry, Legal Cadastre, Fiscal Cadastre, and Innola ownership searches.</a:t>
            </a:r>
            <a:endParaRPr lang="en-US" sz="2400"/>
          </a:p>
        </p:txBody>
      </p:sp>
      <p:sp>
        <p:nvSpPr>
          <p:cNvPr id="7" name="Center text"/>
          <p:cNvSpPr txBox="1"/>
          <p:nvPr/>
        </p:nvSpPr>
        <p:spPr>
          <a:xfrm>
            <a:off x="4724400" y="2047875"/>
            <a:ext cx="2762250" cy="2428875"/>
          </a:xfrm>
          <a:prstGeom prst="rect">
            <a:avLst/>
          </a:prstGeom>
          <a:noFill/>
          <a:ln>
            <a:noFill/>
          </a:ln>
        </p:spPr>
        <p:txBody>
          <a:bodyPr wrap="square" anchor="t"/>
          <a:lstStyle/>
          <a:p>
            <a:pPr algn="l"/>
            <a:r>
              <a:rPr lang="en-US" sz="2400" b="1">
                <a:solidFill>
                  <a:srgbClr val="000000"/>
                </a:solidFill>
                <a:latin typeface="Arial"/>
              </a:rPr>
              <a:t>Examiner action</a:t>
            </a:r>
            <a:endParaRPr lang="en-US" sz="2400"/>
          </a:p>
          <a:p>
            <a:pPr algn="l"/>
            <a:r>
              <a:rPr lang="en-US" sz="2400" b="1">
                <a:solidFill>
                  <a:srgbClr val="000000"/>
                </a:solidFill>
                <a:latin typeface="Arial"/>
              </a:rPr>
              <a:t>Search by Volume/Folio, PID, Land Val No., or owner name; keep valuable evidence; record notes.</a:t>
            </a:r>
            <a:endParaRPr lang="en-US" sz="2400"/>
          </a:p>
        </p:txBody>
      </p:sp>
      <p:sp>
        <p:nvSpPr>
          <p:cNvPr id="8" name="Right text"/>
          <p:cNvSpPr txBox="1"/>
          <p:nvPr/>
        </p:nvSpPr>
        <p:spPr>
          <a:xfrm>
            <a:off x="8515350" y="2047875"/>
            <a:ext cx="2762250" cy="2428875"/>
          </a:xfrm>
          <a:prstGeom prst="rect">
            <a:avLst/>
          </a:prstGeom>
          <a:noFill/>
          <a:ln>
            <a:noFill/>
          </a:ln>
        </p:spPr>
        <p:txBody>
          <a:bodyPr wrap="square" anchor="t"/>
          <a:lstStyle/>
          <a:p>
            <a:pPr algn="l"/>
            <a:r>
              <a:rPr lang="en-US" sz="2400" b="1">
                <a:solidFill>
                  <a:srgbClr val="000000"/>
                </a:solidFill>
                <a:latin typeface="Arial"/>
              </a:rPr>
              <a:t>Closeout</a:t>
            </a:r>
            <a:endParaRPr lang="en-US" sz="2400"/>
          </a:p>
          <a:p>
            <a:pPr algn="l"/>
            <a:r>
              <a:rPr lang="en-US" sz="2400" b="1">
                <a:solidFill>
                  <a:srgbClr val="000000"/>
                </a:solidFill>
                <a:latin typeface="Arial"/>
              </a:rPr>
              <a:t>Save the review, generate the Compare report, suspend if needed, or finalize when the evidence supports the decision.</a:t>
            </a:r>
            <a:endParaRPr lang="en-US" sz="2400"/>
          </a:p>
        </p:txBody>
      </p:sp>
      <p:sp>
        <p:nvSpPr>
          <p:cNvPr id="9"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4</a:t>
            </a:r>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Sidwell Plan Extension keeps examination work structured</a:t>
            </a:r>
            <a:endParaRPr lang="en-US" sz="3800"/>
          </a:p>
        </p:txBody>
      </p:sp>
      <p:sp>
        <p:nvSpPr>
          <p:cNvPr id="3" name="Left"/>
          <p:cNvSpPr txBox="1"/>
          <p:nvPr/>
        </p:nvSpPr>
        <p:spPr>
          <a:xfrm>
            <a:off x="666750" y="1638300"/>
            <a:ext cx="4667250" cy="3714750"/>
          </a:xfrm>
          <a:prstGeom prst="rect">
            <a:avLst/>
          </a:prstGeom>
          <a:noFill/>
          <a:ln>
            <a:noFill/>
          </a:ln>
        </p:spPr>
        <p:txBody>
          <a:bodyPr wrap="square" anchor="t"/>
          <a:lstStyle/>
          <a:p>
            <a:pPr algn="l"/>
            <a:r>
              <a:rPr lang="en-US" sz="2300">
                <a:solidFill>
                  <a:srgbClr val="111111"/>
                </a:solidFill>
                <a:latin typeface="Arial"/>
              </a:rPr>
              <a:t>What the add-in contributes</a:t>
            </a:r>
            <a:endParaRPr lang="en-US" sz="2300"/>
          </a:p>
          <a:p>
            <a:pPr algn="l"/>
            <a:r>
              <a:rPr lang="en-US" sz="2300">
                <a:solidFill>
                  <a:srgbClr val="111111"/>
                </a:solidFill>
                <a:latin typeface="Arial"/>
              </a:rPr>
              <a:t>- Transaction list and stage routing</a:t>
            </a:r>
            <a:endParaRPr lang="en-US" sz="2300"/>
          </a:p>
          <a:p>
            <a:pPr algn="l"/>
            <a:r>
              <a:rPr lang="en-US" sz="2300">
                <a:solidFill>
                  <a:srgbClr val="111111"/>
                </a:solidFill>
                <a:latin typeface="Arial"/>
              </a:rPr>
              <a:t>- Attached document loading and PDF review</a:t>
            </a:r>
            <a:endParaRPr lang="en-US" sz="2300"/>
          </a:p>
          <a:p>
            <a:pPr algn="l"/>
            <a:r>
              <a:rPr lang="en-US" sz="2300">
                <a:solidFill>
                  <a:srgbClr val="111111"/>
                </a:solidFill>
                <a:latin typeface="Arial"/>
              </a:rPr>
              <a:t>- Compute checks and spatial-unit outputs</a:t>
            </a:r>
            <a:endParaRPr lang="en-US" sz="2300"/>
          </a:p>
          <a:p>
            <a:pPr algn="l"/>
            <a:r>
              <a:rPr lang="en-US" sz="2300">
                <a:solidFill>
                  <a:srgbClr val="111111"/>
                </a:solidFill>
                <a:latin typeface="Arial"/>
              </a:rPr>
              <a:t>- Compare workspace for Legal/Fiscal evidence</a:t>
            </a:r>
            <a:endParaRPr lang="en-US" sz="2300"/>
          </a:p>
          <a:p>
            <a:pPr algn="l"/>
            <a:r>
              <a:rPr lang="en-US" sz="2300">
                <a:solidFill>
                  <a:srgbClr val="111111"/>
                </a:solidFill>
                <a:latin typeface="Arial"/>
              </a:rPr>
              <a:t>- Save, suspend, finalize, and report generation</a:t>
            </a:r>
            <a:endParaRPr lang="en-US" sz="2300"/>
          </a:p>
        </p:txBody>
      </p:sp>
      <p:sp>
        <p:nvSpPr>
          <p:cNvPr id="4" name="Right"/>
          <p:cNvSpPr/>
          <p:nvPr/>
        </p:nvSpPr>
        <p:spPr>
          <a:xfrm>
            <a:off x="6191250" y="1638300"/>
            <a:ext cx="4572000" cy="3429000"/>
          </a:xfrm>
          <a:prstGeom prst="rect">
            <a:avLst/>
          </a:prstGeom>
          <a:solidFill>
            <a:srgbClr val="FFF2EA"/>
          </a:solidFill>
          <a:ln w="12700">
            <a:solidFill>
              <a:srgbClr val="FF6B35"/>
            </a:solidFill>
          </a:ln>
        </p:spPr>
        <p:txBody>
          <a:bodyPr/>
          <a:lstStyle/>
          <a:p/>
        </p:txBody>
      </p:sp>
      <p:sp>
        <p:nvSpPr>
          <p:cNvPr id="5" name="Right text"/>
          <p:cNvSpPr txBox="1"/>
          <p:nvPr/>
        </p:nvSpPr>
        <p:spPr>
          <a:xfrm>
            <a:off x="6572250" y="2190750"/>
            <a:ext cx="3810000" cy="2000250"/>
          </a:xfrm>
          <a:prstGeom prst="rect">
            <a:avLst/>
          </a:prstGeom>
          <a:noFill/>
          <a:ln>
            <a:noFill/>
          </a:ln>
        </p:spPr>
        <p:txBody>
          <a:bodyPr wrap="square" anchor="t"/>
          <a:lstStyle/>
          <a:p>
            <a:pPr algn="l"/>
            <a:r>
              <a:rPr lang="en-US" sz="3200" b="1">
                <a:solidFill>
                  <a:srgbClr val="000000"/>
                </a:solidFill>
                <a:latin typeface="Arial"/>
              </a:rPr>
              <a:t>Training message</a:t>
            </a:r>
            <a:endParaRPr lang="en-US" sz="3200"/>
          </a:p>
          <a:p>
            <a:pPr algn="l"/>
            <a:r>
              <a:rPr lang="en-US" sz="3200" b="1">
                <a:solidFill>
                  <a:srgbClr val="000000"/>
                </a:solidFill>
                <a:latin typeface="Arial"/>
              </a:rPr>
              <a:t>The tools should feel like a guided examination workspace, not a separate GIS project to manage manually.</a:t>
            </a:r>
            <a:endParaRPr lang="en-US" sz="3200"/>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Sidwell Plan Extension</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Hands-on practice should follow real examiner decisions</a:t>
            </a:r>
            <a:endParaRPr lang="en-US" sz="3800"/>
          </a:p>
        </p:txBody>
      </p:sp>
      <p:sp>
        <p:nvSpPr>
          <p:cNvPr id="3" name="Lab 1"/>
          <p:cNvSpPr/>
          <p:nvPr/>
        </p:nvSpPr>
        <p:spPr>
          <a:xfrm>
            <a:off x="666750" y="1666875"/>
            <a:ext cx="3048000" cy="3619500"/>
          </a:xfrm>
          <a:prstGeom prst="rect">
            <a:avLst/>
          </a:prstGeom>
          <a:solidFill>
            <a:srgbClr val="F4F4F4"/>
          </a:solidFill>
          <a:ln w="12700">
            <a:solidFill>
              <a:srgbClr val="B8BCC4"/>
            </a:solidFill>
          </a:ln>
        </p:spPr>
        <p:txBody>
          <a:bodyPr/>
          <a:lstStyle/>
          <a:p/>
        </p:txBody>
      </p:sp>
      <p:sp>
        <p:nvSpPr>
          <p:cNvPr id="4" name="Lab 2"/>
          <p:cNvSpPr/>
          <p:nvPr/>
        </p:nvSpPr>
        <p:spPr>
          <a:xfrm>
            <a:off x="4572000" y="1666875"/>
            <a:ext cx="3048000" cy="3619500"/>
          </a:xfrm>
          <a:prstGeom prst="rect">
            <a:avLst/>
          </a:prstGeom>
          <a:solidFill>
            <a:srgbClr val="F4F4F4"/>
          </a:solidFill>
          <a:ln w="12700">
            <a:solidFill>
              <a:srgbClr val="B8BCC4"/>
            </a:solidFill>
          </a:ln>
        </p:spPr>
        <p:txBody>
          <a:bodyPr/>
          <a:lstStyle/>
          <a:p/>
        </p:txBody>
      </p:sp>
      <p:sp>
        <p:nvSpPr>
          <p:cNvPr id="5" name="Lab 3"/>
          <p:cNvSpPr/>
          <p:nvPr/>
        </p:nvSpPr>
        <p:spPr>
          <a:xfrm>
            <a:off x="8477250" y="1666875"/>
            <a:ext cx="3048000" cy="3619500"/>
          </a:xfrm>
          <a:prstGeom prst="rect">
            <a:avLst/>
          </a:prstGeom>
          <a:solidFill>
            <a:srgbClr val="F4F4F4"/>
          </a:solidFill>
          <a:ln w="12700">
            <a:solidFill>
              <a:srgbClr val="B8BCC4"/>
            </a:solidFill>
          </a:ln>
        </p:spPr>
        <p:txBody>
          <a:bodyPr/>
          <a:lstStyle/>
          <a:p/>
        </p:txBody>
      </p:sp>
      <p:sp>
        <p:nvSpPr>
          <p:cNvPr id="6" name="Lab 1 text"/>
          <p:cNvSpPr txBox="1"/>
          <p:nvPr/>
        </p:nvSpPr>
        <p:spPr>
          <a:xfrm>
            <a:off x="952500" y="2047875"/>
            <a:ext cx="2476500" cy="2333625"/>
          </a:xfrm>
          <a:prstGeom prst="rect">
            <a:avLst/>
          </a:prstGeom>
          <a:noFill/>
          <a:ln>
            <a:noFill/>
          </a:ln>
        </p:spPr>
        <p:txBody>
          <a:bodyPr wrap="square" anchor="t"/>
          <a:lstStyle/>
          <a:p>
            <a:pPr algn="l"/>
            <a:r>
              <a:rPr lang="en-US" sz="2300" b="1">
                <a:solidFill>
                  <a:srgbClr val="000000"/>
                </a:solidFill>
                <a:latin typeface="Arial"/>
              </a:rPr>
              <a:t>Lab 1</a:t>
            </a:r>
            <a:endParaRPr lang="en-US" sz="2300"/>
          </a:p>
          <a:p>
            <a:pPr algn="l"/>
            <a:r>
              <a:rPr lang="en-US" sz="2300" b="1">
                <a:solidFill>
                  <a:srgbClr val="000000"/>
                </a:solidFill>
                <a:latin typeface="Arial"/>
              </a:rPr>
              <a:t>Open and inspect</a:t>
            </a:r>
            <a:endParaRPr lang="en-US" sz="2300"/>
          </a:p>
          <a:p>
            <a:pPr algn="l"/>
            <a:r>
              <a:rPr lang="en-US" sz="2300" b="1">
                <a:solidFill>
                  <a:srgbClr val="000000"/>
                </a:solidFill>
                <a:latin typeface="Arial"/>
              </a:rPr>
              <a:t>Participants load the transaction, documents, map layers, and evidence context.</a:t>
            </a:r>
            <a:endParaRPr lang="en-US" sz="2300"/>
          </a:p>
        </p:txBody>
      </p:sp>
      <p:sp>
        <p:nvSpPr>
          <p:cNvPr id="7" name="Lab 2 text"/>
          <p:cNvSpPr txBox="1"/>
          <p:nvPr/>
        </p:nvSpPr>
        <p:spPr>
          <a:xfrm>
            <a:off x="4857750" y="2047875"/>
            <a:ext cx="2476500" cy="2333625"/>
          </a:xfrm>
          <a:prstGeom prst="rect">
            <a:avLst/>
          </a:prstGeom>
          <a:noFill/>
          <a:ln>
            <a:noFill/>
          </a:ln>
        </p:spPr>
        <p:txBody>
          <a:bodyPr wrap="square" anchor="t"/>
          <a:lstStyle/>
          <a:p>
            <a:pPr algn="l"/>
            <a:r>
              <a:rPr lang="en-US" sz="2300" b="1">
                <a:solidFill>
                  <a:srgbClr val="000000"/>
                </a:solidFill>
                <a:latin typeface="Arial"/>
              </a:rPr>
              <a:t>Lab 2</a:t>
            </a:r>
            <a:endParaRPr lang="en-US" sz="2300"/>
          </a:p>
          <a:p>
            <a:pPr algn="l"/>
            <a:r>
              <a:rPr lang="en-US" sz="2300" b="1">
                <a:solidFill>
                  <a:srgbClr val="000000"/>
                </a:solidFill>
                <a:latin typeface="Arial"/>
              </a:rPr>
              <a:t>Resolve or retain</a:t>
            </a:r>
            <a:endParaRPr lang="en-US" sz="2300"/>
          </a:p>
          <a:p>
            <a:pPr algn="l"/>
            <a:r>
              <a:rPr lang="en-US" sz="2300" b="1">
                <a:solidFill>
                  <a:srgbClr val="000000"/>
                </a:solidFill>
                <a:latin typeface="Arial"/>
              </a:rPr>
              <a:t>Participants correct what can be corrected and preserve blockers that need review.</a:t>
            </a:r>
            <a:endParaRPr lang="en-US" sz="2300"/>
          </a:p>
        </p:txBody>
      </p:sp>
      <p:sp>
        <p:nvSpPr>
          <p:cNvPr id="8" name="Lab 3 text"/>
          <p:cNvSpPr txBox="1"/>
          <p:nvPr/>
        </p:nvSpPr>
        <p:spPr>
          <a:xfrm>
            <a:off x="8763000" y="2047875"/>
            <a:ext cx="2476500" cy="2333625"/>
          </a:xfrm>
          <a:prstGeom prst="rect">
            <a:avLst/>
          </a:prstGeom>
          <a:noFill/>
          <a:ln>
            <a:noFill/>
          </a:ln>
        </p:spPr>
        <p:txBody>
          <a:bodyPr wrap="square" anchor="t"/>
          <a:lstStyle/>
          <a:p>
            <a:pPr algn="l"/>
            <a:r>
              <a:rPr lang="en-US" sz="2300" b="1">
                <a:solidFill>
                  <a:srgbClr val="000000"/>
                </a:solidFill>
                <a:latin typeface="Arial"/>
              </a:rPr>
              <a:t>Lab 3</a:t>
            </a:r>
            <a:endParaRPr lang="en-US" sz="2300"/>
          </a:p>
          <a:p>
            <a:pPr algn="l"/>
            <a:r>
              <a:rPr lang="en-US" sz="2300" b="1">
                <a:solidFill>
                  <a:srgbClr val="000000"/>
                </a:solidFill>
                <a:latin typeface="Arial"/>
              </a:rPr>
              <a:t>Save or finalize</a:t>
            </a:r>
            <a:endParaRPr lang="en-US" sz="2300"/>
          </a:p>
          <a:p>
            <a:pPr algn="l"/>
            <a:r>
              <a:rPr lang="en-US" sz="2300" b="1">
                <a:solidFill>
                  <a:srgbClr val="000000"/>
                </a:solidFill>
                <a:latin typeface="Arial"/>
              </a:rPr>
              <a:t>Participants generate reports and understand when to suspend or complete the task.</a:t>
            </a:r>
            <a:endParaRPr lang="en-US" sz="2300"/>
          </a:p>
        </p:txBody>
      </p:sp>
      <p:sp>
        <p:nvSpPr>
          <p:cNvPr id="9"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Suggested lab pattern</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Successful training means participants can explain and execute the workflow</a:t>
            </a:r>
            <a:endParaRPr lang="en-US" sz="3800"/>
          </a:p>
        </p:txBody>
      </p:sp>
      <p:sp>
        <p:nvSpPr>
          <p:cNvPr id="3" name="Success list"/>
          <p:cNvSpPr txBox="1"/>
          <p:nvPr/>
        </p:nvSpPr>
        <p:spPr>
          <a:xfrm>
            <a:off x="857250" y="1714500"/>
            <a:ext cx="10096500" cy="3429000"/>
          </a:xfrm>
          <a:prstGeom prst="rect">
            <a:avLst/>
          </a:prstGeom>
          <a:noFill/>
          <a:ln>
            <a:noFill/>
          </a:ln>
        </p:spPr>
        <p:txBody>
          <a:bodyPr wrap="square" anchor="t"/>
          <a:lstStyle/>
          <a:p>
            <a:pPr algn="l"/>
            <a:r>
              <a:rPr lang="en-US" sz="2500">
                <a:solidFill>
                  <a:srgbClr val="111111"/>
                </a:solidFill>
                <a:latin typeface="Arial"/>
              </a:rPr>
              <a:t>After four days, participants should be able to:</a:t>
            </a:r>
            <a:endParaRPr lang="en-US" sz="2500"/>
          </a:p>
          <a:p>
            <a:pPr algn="l"/>
            <a:r>
              <a:rPr lang="en-US" sz="2500">
                <a:solidFill>
                  <a:srgbClr val="111111"/>
                </a:solidFill>
                <a:latin typeface="Arial"/>
              </a:rPr>
              <a:t>- Work confidently in ArcGIS Pro without relying on ArcMap mental shortcuts.</a:t>
            </a:r>
            <a:endParaRPr lang="en-US" sz="2500"/>
          </a:p>
          <a:p>
            <a:pPr algn="l"/>
            <a:r>
              <a:rPr lang="en-US" sz="2500">
                <a:solidFill>
                  <a:srgbClr val="111111"/>
                </a:solidFill>
                <a:latin typeface="Arial"/>
              </a:rPr>
              <a:t>- Open the Plan Examination transaction and understand the current stage.</a:t>
            </a:r>
            <a:endParaRPr lang="en-US" sz="2500"/>
          </a:p>
          <a:p>
            <a:pPr algn="l"/>
            <a:r>
              <a:rPr lang="en-US" sz="2500">
                <a:solidFill>
                  <a:srgbClr val="111111"/>
                </a:solidFill>
                <a:latin typeface="Arial"/>
              </a:rPr>
              <a:t>- Review attached evidence, map context, and extracted geometry.</a:t>
            </a:r>
            <a:endParaRPr lang="en-US" sz="2500"/>
          </a:p>
          <a:p>
            <a:pPr algn="l"/>
            <a:r>
              <a:rPr lang="en-US" sz="2500">
                <a:solidFill>
                  <a:srgbClr val="111111"/>
                </a:solidFill>
                <a:latin typeface="Arial"/>
              </a:rPr>
              <a:t>- Use Compare to keep ownership evidence and record notes.</a:t>
            </a:r>
            <a:endParaRPr lang="en-US" sz="2500"/>
          </a:p>
          <a:p>
            <a:pPr algn="l"/>
            <a:r>
              <a:rPr lang="en-US" sz="2500">
                <a:solidFill>
                  <a:srgbClr val="111111"/>
                </a:solidFill>
                <a:latin typeface="Arial"/>
              </a:rPr>
              <a:t>- Save, suspend, or finalize with awareness of report and task state.</a:t>
            </a:r>
            <a:endParaRPr lang="en-US" sz="2500"/>
          </a:p>
        </p:txBody>
      </p:sp>
      <p:cxnSp>
        <p:nvCxnSpPr>
          <p:cNvPr id="4" name="Accent"/>
          <p:cNvCxnSpPr/>
          <p:nvPr/>
        </p:nvCxnSpPr>
        <p:spPr>
          <a:xfrm>
            <a:off x="857250" y="5381625"/>
            <a:ext cx="7239000" cy="0"/>
          </a:xfrm>
          <a:prstGeom prst="line">
            <a:avLst/>
          </a:prstGeom>
          <a:ln w="38100">
            <a:solidFill>
              <a:srgbClr val="FF6B35"/>
            </a:solidFill>
          </a:ln>
        </p:spPr>
      </p:cxnSp>
      <p:sp>
        <p:nvSpPr>
          <p:cNvPr id="5"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Training outcomes</a:t>
            </a:r>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References used to frame the ArcGIS Pro portion</a:t>
            </a:r>
            <a:endParaRPr lang="en-US" sz="3800"/>
          </a:p>
        </p:txBody>
      </p:sp>
      <p:sp>
        <p:nvSpPr>
          <p:cNvPr id="3" name="Refs"/>
          <p:cNvSpPr txBox="1"/>
          <p:nvPr/>
        </p:nvSpPr>
        <p:spPr>
          <a:xfrm>
            <a:off x="723900" y="1619250"/>
            <a:ext cx="10287000" cy="3714750"/>
          </a:xfrm>
          <a:prstGeom prst="rect">
            <a:avLst/>
          </a:prstGeom>
          <a:noFill/>
          <a:ln>
            <a:noFill/>
          </a:ln>
        </p:spPr>
        <p:txBody>
          <a:bodyPr wrap="square" anchor="t"/>
          <a:lstStyle/>
          <a:p>
            <a:pPr algn="l"/>
            <a:r>
              <a:rPr lang="en-US" sz="2000">
                <a:solidFill>
                  <a:srgbClr val="111111"/>
                </a:solidFill>
                <a:latin typeface="Arial"/>
              </a:rPr>
              <a:t>Training syllabus PDFs</a:t>
            </a:r>
            <a:endParaRPr lang="en-US" sz="2000"/>
          </a:p>
          <a:p>
            <a:pPr algn="l"/>
            <a:r>
              <a:rPr lang="en-US" sz="2000">
                <a:solidFill>
                  <a:srgbClr val="111111"/>
                </a:solidFill>
                <a:latin typeface="Arial"/>
              </a:rPr>
              <a:t>- Unit 1 - Intro to ArcGIS Pro</a:t>
            </a:r>
            <a:endParaRPr lang="en-US" sz="2000"/>
          </a:p>
          <a:p>
            <a:pPr algn="l"/>
            <a:r>
              <a:rPr lang="en-US" sz="2000">
                <a:solidFill>
                  <a:srgbClr val="111111"/>
                </a:solidFill>
                <a:latin typeface="Arial"/>
              </a:rPr>
              <a:t>- Unit 2 - Editing in ArcGIS Pro</a:t>
            </a:r>
            <a:endParaRPr lang="en-US" sz="2000"/>
          </a:p>
          <a:p>
            <a:pPr algn="l"/>
            <a:r>
              <a:rPr lang="en-US" sz="2000">
                <a:solidFill>
                  <a:srgbClr val="111111"/>
                </a:solidFill>
                <a:latin typeface="Arial"/>
              </a:rPr>
              <a:t>- Unit 3 - Layouts in ArcGIS Pro</a:t>
            </a:r>
            <a:endParaRPr lang="en-US" sz="2000"/>
          </a:p>
          <a:p>
            <a:pPr algn="l"/>
            <a:r>
              <a:rPr lang="en-US" sz="2000">
                <a:solidFill>
                  <a:srgbClr val="111111"/>
                </a:solidFill>
                <a:latin typeface="Arial"/>
              </a:rPr>
              <a:t>- Unit 4 - Parcel Fabric</a:t>
            </a:r>
            <a:endParaRPr lang="en-US" sz="2000"/>
          </a:p>
          <a:p>
            <a:pPr algn="l"/>
            <a:r>
              <a:rPr lang="en-US" sz="2000">
                <a:solidFill>
                  <a:srgbClr val="111111"/>
                </a:solidFill>
                <a:latin typeface="Arial"/>
              </a:rPr>
              <a:t>- Unit 5 - Customizations and Tasks in ArcGIS Pro</a:t>
            </a:r>
            <a:endParaRPr lang="en-US" sz="2000"/>
          </a:p>
          <a:p>
            <a:pPr algn="l"/>
            <a:r>
              <a:rPr lang="en-US" sz="2000">
                <a:solidFill>
                  <a:srgbClr val="111111"/>
                </a:solidFill>
                <a:latin typeface="Arial"/>
              </a:rPr>
              <a:t/>
            </a:r>
            <a:endParaRPr lang="en-US" sz="2000"/>
          </a:p>
          <a:p>
            <a:pPr algn="l"/>
            <a:r>
              <a:rPr lang="en-US" sz="2000">
                <a:solidFill>
                  <a:srgbClr val="111111"/>
                </a:solidFill>
                <a:latin typeface="Arial"/>
              </a:rPr>
              <a:t>Esri ArcGIS Pro documentation</a:t>
            </a:r>
            <a:endParaRPr lang="en-US" sz="2000"/>
          </a:p>
          <a:p>
            <a:pPr algn="l"/>
            <a:r>
              <a:rPr lang="en-US" sz="2000">
                <a:solidFill>
                  <a:srgbClr val="111111"/>
                </a:solidFill>
                <a:latin typeface="Arial"/>
              </a:rPr>
              <a:t>- ArcMap migration guidance, ArcMap document import, quick-start tutorials, and ArcGIS Pro 3.6 release notes</a:t>
            </a:r>
            <a:endParaRPr lang="en-US" sz="2000"/>
          </a:p>
          <a:p>
            <a:pPr algn="l"/>
            <a:r>
              <a:rPr lang="en-US" sz="2000">
                <a:solidFill>
                  <a:srgbClr val="111111"/>
                </a:solidFill>
                <a:latin typeface="Arial"/>
              </a:rPr>
              <a:t/>
            </a:r>
            <a:endParaRPr lang="en-US" sz="2000"/>
          </a:p>
          <a:p>
            <a:pPr algn="l"/>
            <a:r>
              <a:rPr lang="en-US" sz="2000">
                <a:solidFill>
                  <a:srgbClr val="111111"/>
                </a:solidFill>
                <a:latin typeface="Arial"/>
              </a:rPr>
              <a:t>Project context</a:t>
            </a:r>
            <a:endParaRPr lang="en-US" sz="2000"/>
          </a:p>
          <a:p>
            <a:pPr algn="l"/>
            <a:r>
              <a:rPr lang="en-US" sz="2000">
                <a:solidFill>
                  <a:srgbClr val="111111"/>
                </a:solidFill>
                <a:latin typeface="Arial"/>
              </a:rPr>
              <a:t>- Sidwell Plan Extension story artifacts for Compute, Compare, Enterprise Legal/Fiscal evidence, and Compare lifecycle/reporting</a:t>
            </a:r>
            <a:endParaRPr lang="en-US" sz="2000"/>
          </a:p>
        </p:txBody>
      </p:sp>
      <p:sp>
        <p:nvSpPr>
          <p:cNvPr id="4"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Sources</a:t>
            </a:r>
            <a:endParaRPr lang="en-US" sz="1200"/>
          </a:p>
        </p:txBody>
      </p:sp>
    </p:spTree>
  </p:cSld>
  <p:clrMapOvr>
    <a:masterClrMapping/>
  </p:clrMapOvr>
</p:sld>
</file>

<file path=ppt/theme/theme1.xml><?xml version="1.0" encoding="utf-8"?>
<a:theme xmlns:a="http://schemas.openxmlformats.org/drawingml/2006/main" name="NLA Training">
  <a:themeElements>
    <a:clrScheme name="NLA Training">
      <a:dk1>
        <a:srgbClr val="000000"/>
      </a:dk1>
      <a:lt1>
        <a:srgbClr val="FFFFFF"/>
      </a:lt1>
      <a:dk2>
        <a:srgbClr val="333333"/>
      </a:dk2>
      <a:lt2>
        <a:srgbClr val="F4F4F4"/>
      </a:lt2>
      <a:accent1>
        <a:srgbClr val="FF6B35"/>
      </a:accent1>
      <a:accent2>
        <a:srgbClr val="B8BCC4"/>
      </a:accent2>
      <a:accent3>
        <a:srgbClr val="555555"/>
      </a:accent3>
      <a:accent4>
        <a:srgbClr val="111111"/>
      </a:accent4>
      <a:accent5>
        <a:srgbClr val="EDEDED"/>
      </a:accent5>
      <a:accent6>
        <a:srgbClr val="FFF2EA"/>
      </a:accent6>
      <a:hlink>
        <a:srgbClr val="0563C1"/>
      </a:hlink>
      <a:folHlink>
        <a:srgbClr val="954F72"/>
      </a:folHlink>
    </a:clrScheme>
    <a:fontScheme name="Arial">
      <a:majorFont>
        <a:latin typeface="Arial"/>
      </a:majorFont>
      <a:minorFont>
        <a:latin typeface="Arial"/>
      </a:minorFont>
    </a:fontScheme>
    <a:fmtScheme name="Simpl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13</Slides>
  <Company>Sidwell / NLA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NLA Plan Examination 4-Day Training Overview</dc:title>
  <dc:creator>Codex / Paige</dc:creator>
  <cp:lastModifiedBy>Codex / Paige</cp:lastModifiedBy>
  <dcterms:created xsi:type="dcterms:W3CDTF">2026-07-19T00:00:00Z</dcterms:created>
  <dcterms:modified xsi:type="dcterms:W3CDTF">2026-07-19T00:00:00Z</dcterms:modified>
</cp:coreProperties>
</file>